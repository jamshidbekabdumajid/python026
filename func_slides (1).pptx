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5710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64959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1936096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4342955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368481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3889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972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0784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96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3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04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3713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8C71B7-DAB3-B1E4-2A81-AA3D25952F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965503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0531347" name="Text 1"/>
          <p:cNvSpPr/>
          <p:nvPr/>
        </p:nvSpPr>
        <p:spPr bwMode="auto"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Python Built-in Functions</a:t>
            </a:r>
            <a:endParaRPr lang="en-US" sz="2200"/>
          </a:p>
        </p:txBody>
      </p:sp>
      <p:sp>
        <p:nvSpPr>
          <p:cNvPr id="393963459" name="Text 2"/>
          <p:cNvSpPr/>
          <p:nvPr/>
        </p:nvSpPr>
        <p:spPr bwMode="auto">
          <a:xfrm>
            <a:off x="7498080" y="1463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Slayd 1 / 2</a:t>
            </a:r>
            <a:endParaRPr lang="en-US" sz="1100"/>
          </a:p>
        </p:txBody>
      </p:sp>
      <p:sp>
        <p:nvSpPr>
          <p:cNvPr id="750099658" name="Shape 3"/>
          <p:cNvSpPr/>
          <p:nvPr/>
        </p:nvSpPr>
        <p:spPr bwMode="auto"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87167743" name="Shape 4"/>
          <p:cNvSpPr/>
          <p:nvPr/>
        </p:nvSpPr>
        <p:spPr bwMode="auto">
          <a:xfrm>
            <a:off x="274320" y="713232"/>
            <a:ext cx="4160519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sx="100000" sy="100000" kx="0" ky="0" algn="bl" rotWithShape="0">
              <a:srgbClr val="94A3B8">
                <a:alpha val="18000"/>
              </a:srgbClr>
            </a:outerShdw>
          </a:effectLst>
        </p:spPr>
      </p:sp>
      <p:sp>
        <p:nvSpPr>
          <p:cNvPr id="641480802" name="Shape 5"/>
          <p:cNvSpPr/>
          <p:nvPr/>
        </p:nvSpPr>
        <p:spPr bwMode="auto">
          <a:xfrm>
            <a:off x="274320" y="713232"/>
            <a:ext cx="4160519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54741789" name="Shape 6"/>
          <p:cNvSpPr/>
          <p:nvPr/>
        </p:nvSpPr>
        <p:spPr bwMode="auto">
          <a:xfrm>
            <a:off x="475488" y="859536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55508188" name="Text 7"/>
          <p:cNvSpPr/>
          <p:nvPr/>
        </p:nvSpPr>
        <p:spPr bwMode="auto">
          <a:xfrm>
            <a:off x="493776" y="877824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enumerate()</a:t>
            </a:r>
            <a:endParaRPr lang="en-US" sz="1200"/>
          </a:p>
        </p:txBody>
      </p:sp>
      <p:sp>
        <p:nvSpPr>
          <p:cNvPr id="168258471" name="Text 8"/>
          <p:cNvSpPr/>
          <p:nvPr/>
        </p:nvSpPr>
        <p:spPr bwMode="auto">
          <a:xfrm>
            <a:off x="475488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Nima qiladi?</a:t>
            </a:r>
            <a:endParaRPr lang="en-US" sz="1200"/>
          </a:p>
        </p:txBody>
      </p:sp>
      <p:sp>
        <p:nvSpPr>
          <p:cNvPr id="664105878" name="Text 9"/>
          <p:cNvSpPr/>
          <p:nvPr/>
        </p:nvSpPr>
        <p:spPr bwMode="auto">
          <a:xfrm>
            <a:off x="475488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Har bir elementga tartib raqam (index) qo'shadi.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Qoida: enumerate(iterable, start=0)</a:t>
            </a:r>
            <a:endParaRPr lang="en-US" sz="1100"/>
          </a:p>
        </p:txBody>
      </p:sp>
      <p:sp>
        <p:nvSpPr>
          <p:cNvPr id="1279184801" name="Shape 10"/>
          <p:cNvSpPr/>
          <p:nvPr/>
        </p:nvSpPr>
        <p:spPr bwMode="auto">
          <a:xfrm>
            <a:off x="475488" y="2103120"/>
            <a:ext cx="3758184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4560967" name="Text 11"/>
          <p:cNvSpPr/>
          <p:nvPr/>
        </p:nvSpPr>
        <p:spPr bwMode="auto">
          <a:xfrm>
            <a:off x="594360" y="2176272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fruits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[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"olma"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"nok"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"uzum"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]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b="1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i, fruit </a:t>
            </a:r>
            <a:r>
              <a:rPr lang="en-US" sz="1100" b="1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enumerate(fruits, start=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):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  print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(i, fruit)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 olma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 nok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 uzum</a:t>
            </a:r>
            <a:endParaRPr lang="en-US" sz="1100"/>
          </a:p>
        </p:txBody>
      </p:sp>
      <p:sp>
        <p:nvSpPr>
          <p:cNvPr id="679228225" name="Text 12"/>
          <p:cNvSpPr/>
          <p:nvPr/>
        </p:nvSpPr>
        <p:spPr bwMode="auto">
          <a:xfrm>
            <a:off x="475488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Qoidalar:</a:t>
            </a:r>
            <a:endParaRPr lang="en-US" sz="1200"/>
          </a:p>
        </p:txBody>
      </p:sp>
      <p:sp>
        <p:nvSpPr>
          <p:cNvPr id="253955351" name="Shape 13"/>
          <p:cNvSpPr/>
          <p:nvPr/>
        </p:nvSpPr>
        <p:spPr bwMode="auto">
          <a:xfrm>
            <a:off x="475488" y="3950208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82048970" name="Text 14"/>
          <p:cNvSpPr/>
          <p:nvPr/>
        </p:nvSpPr>
        <p:spPr bwMode="auto">
          <a:xfrm>
            <a:off x="64008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Iterable (list, tuple, str) bilan ishlaydi</a:t>
            </a:r>
            <a:endParaRPr lang="en-US" sz="1050"/>
          </a:p>
        </p:txBody>
      </p:sp>
      <p:sp>
        <p:nvSpPr>
          <p:cNvPr id="2114776785" name="Shape 15"/>
          <p:cNvSpPr/>
          <p:nvPr/>
        </p:nvSpPr>
        <p:spPr bwMode="auto">
          <a:xfrm>
            <a:off x="475488" y="4224528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3333711" name="Text 16"/>
          <p:cNvSpPr/>
          <p:nvPr/>
        </p:nvSpPr>
        <p:spPr bwMode="auto">
          <a:xfrm>
            <a:off x="640080" y="4187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start= parametri boshlanish raqamini belgilaydi</a:t>
            </a:r>
            <a:endParaRPr lang="en-US" sz="1050"/>
          </a:p>
        </p:txBody>
      </p:sp>
      <p:sp>
        <p:nvSpPr>
          <p:cNvPr id="907248217" name="Shape 17"/>
          <p:cNvSpPr/>
          <p:nvPr/>
        </p:nvSpPr>
        <p:spPr bwMode="auto">
          <a:xfrm>
            <a:off x="475488" y="4498848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903262" name="Text 18"/>
          <p:cNvSpPr/>
          <p:nvPr/>
        </p:nvSpPr>
        <p:spPr bwMode="auto">
          <a:xfrm>
            <a:off x="640080" y="4462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list() qo'shilsa [(0,'olma'), (1,'nok')] chiqadi</a:t>
            </a:r>
            <a:endParaRPr lang="en-US" sz="1050"/>
          </a:p>
        </p:txBody>
      </p:sp>
      <p:sp>
        <p:nvSpPr>
          <p:cNvPr id="1935636695" name="Shape 19"/>
          <p:cNvSpPr/>
          <p:nvPr/>
        </p:nvSpPr>
        <p:spPr bwMode="auto">
          <a:xfrm>
            <a:off x="4709160" y="713232"/>
            <a:ext cx="4160519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sx="100000" sy="100000" kx="0" ky="0" algn="bl" rotWithShape="0">
              <a:srgbClr val="94A3B8">
                <a:alpha val="18000"/>
              </a:srgbClr>
            </a:outerShdw>
          </a:effectLst>
        </p:spPr>
      </p:sp>
      <p:sp>
        <p:nvSpPr>
          <p:cNvPr id="646617416" name="Shape 20"/>
          <p:cNvSpPr/>
          <p:nvPr/>
        </p:nvSpPr>
        <p:spPr bwMode="auto">
          <a:xfrm>
            <a:off x="4709160" y="713232"/>
            <a:ext cx="4160519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1517363" name="Shape 21"/>
          <p:cNvSpPr/>
          <p:nvPr/>
        </p:nvSpPr>
        <p:spPr bwMode="auto">
          <a:xfrm>
            <a:off x="4910328" y="859536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07576963" name="Text 22"/>
          <p:cNvSpPr/>
          <p:nvPr/>
        </p:nvSpPr>
        <p:spPr bwMode="auto">
          <a:xfrm>
            <a:off x="4928616" y="87782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zip()</a:t>
            </a:r>
            <a:endParaRPr lang="en-US" sz="1200"/>
          </a:p>
        </p:txBody>
      </p:sp>
      <p:sp>
        <p:nvSpPr>
          <p:cNvPr id="1009518313" name="Text 23"/>
          <p:cNvSpPr/>
          <p:nvPr/>
        </p:nvSpPr>
        <p:spPr bwMode="auto">
          <a:xfrm>
            <a:off x="4910328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Nima qiladi?</a:t>
            </a:r>
            <a:endParaRPr lang="en-US" sz="1200"/>
          </a:p>
        </p:txBody>
      </p:sp>
      <p:sp>
        <p:nvSpPr>
          <p:cNvPr id="264943013" name="Text 24"/>
          <p:cNvSpPr/>
          <p:nvPr/>
        </p:nvSpPr>
        <p:spPr bwMode="auto">
          <a:xfrm>
            <a:off x="4910328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Ikki yoki ko'p iterableni juft-juft birlashtiradi.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Qoida: zip(iter1, iter2, ...)</a:t>
            </a:r>
            <a:endParaRPr lang="en-US" sz="1100"/>
          </a:p>
        </p:txBody>
      </p:sp>
      <p:sp>
        <p:nvSpPr>
          <p:cNvPr id="1827428411" name="Shape 25"/>
          <p:cNvSpPr/>
          <p:nvPr/>
        </p:nvSpPr>
        <p:spPr bwMode="auto">
          <a:xfrm>
            <a:off x="4910328" y="2103120"/>
            <a:ext cx="3758184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8132577" name="Text 26"/>
          <p:cNvSpPr/>
          <p:nvPr/>
        </p:nvSpPr>
        <p:spPr bwMode="auto">
          <a:xfrm>
            <a:off x="5029200" y="2176272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 = [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"Ali"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"Vali"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"Soli"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]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scores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[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90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85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92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]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b="1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name, score </a:t>
            </a:r>
            <a:r>
              <a:rPr lang="en-US" sz="1100" b="1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zip(names, scores):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  print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(name, 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"→"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score)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Ali → 90 | Vali → 85 | Soli → 92</a:t>
            </a:r>
            <a:endParaRPr lang="en-US" sz="1100"/>
          </a:p>
        </p:txBody>
      </p:sp>
      <p:sp>
        <p:nvSpPr>
          <p:cNvPr id="1703596642" name="Text 27"/>
          <p:cNvSpPr/>
          <p:nvPr/>
        </p:nvSpPr>
        <p:spPr bwMode="auto">
          <a:xfrm>
            <a:off x="4910328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Qoidalar:</a:t>
            </a:r>
            <a:endParaRPr lang="en-US" sz="1200"/>
          </a:p>
        </p:txBody>
      </p:sp>
      <p:sp>
        <p:nvSpPr>
          <p:cNvPr id="2082527467" name="Shape 28"/>
          <p:cNvSpPr/>
          <p:nvPr/>
        </p:nvSpPr>
        <p:spPr bwMode="auto">
          <a:xfrm>
            <a:off x="4910328" y="395020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3429799" name="Text 29"/>
          <p:cNvSpPr/>
          <p:nvPr/>
        </p:nvSpPr>
        <p:spPr bwMode="auto">
          <a:xfrm>
            <a:off x="507492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Eng qisqa listga qarab to'xtaydi</a:t>
            </a:r>
            <a:endParaRPr lang="en-US" sz="1050"/>
          </a:p>
        </p:txBody>
      </p:sp>
      <p:sp>
        <p:nvSpPr>
          <p:cNvPr id="806585578" name="Shape 30"/>
          <p:cNvSpPr/>
          <p:nvPr/>
        </p:nvSpPr>
        <p:spPr bwMode="auto">
          <a:xfrm>
            <a:off x="4910328" y="422452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8088065" name="Text 31"/>
          <p:cNvSpPr/>
          <p:nvPr/>
        </p:nvSpPr>
        <p:spPr bwMode="auto">
          <a:xfrm>
            <a:off x="5074920" y="4187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dict(zip(a,b)) — dict yasash uchun ideal</a:t>
            </a:r>
            <a:endParaRPr lang="en-US" sz="1050"/>
          </a:p>
        </p:txBody>
      </p:sp>
      <p:sp>
        <p:nvSpPr>
          <p:cNvPr id="24616707" name="Shape 32"/>
          <p:cNvSpPr/>
          <p:nvPr/>
        </p:nvSpPr>
        <p:spPr bwMode="auto">
          <a:xfrm>
            <a:off x="4910328" y="449884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4722590" name="Text 33"/>
          <p:cNvSpPr/>
          <p:nvPr/>
        </p:nvSpPr>
        <p:spPr bwMode="auto">
          <a:xfrm>
            <a:off x="5074920" y="4462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list() qo'shilsa [('Ali',90), ...] chiqadi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938609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99421743" name="Text 1"/>
          <p:cNvSpPr/>
          <p:nvPr/>
        </p:nvSpPr>
        <p:spPr bwMode="auto"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Python Built-in Functions</a:t>
            </a:r>
            <a:endParaRPr lang="en-US" sz="2200"/>
          </a:p>
        </p:txBody>
      </p:sp>
      <p:sp>
        <p:nvSpPr>
          <p:cNvPr id="1691843028" name="Text 2"/>
          <p:cNvSpPr/>
          <p:nvPr/>
        </p:nvSpPr>
        <p:spPr bwMode="auto">
          <a:xfrm>
            <a:off x="7498080" y="1463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Slayd 2 / 2</a:t>
            </a:r>
            <a:endParaRPr lang="en-US" sz="1100"/>
          </a:p>
        </p:txBody>
      </p:sp>
      <p:sp>
        <p:nvSpPr>
          <p:cNvPr id="1316683436" name="Shape 3"/>
          <p:cNvSpPr/>
          <p:nvPr/>
        </p:nvSpPr>
        <p:spPr bwMode="auto"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2277146" name="Shape 4"/>
          <p:cNvSpPr/>
          <p:nvPr/>
        </p:nvSpPr>
        <p:spPr bwMode="auto">
          <a:xfrm>
            <a:off x="274320" y="713232"/>
            <a:ext cx="4160519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sx="100000" sy="100000" kx="0" ky="0" algn="bl" rotWithShape="0">
              <a:srgbClr val="94A3B8">
                <a:alpha val="18000"/>
              </a:srgbClr>
            </a:outerShdw>
          </a:effectLst>
        </p:spPr>
      </p:sp>
      <p:sp>
        <p:nvSpPr>
          <p:cNvPr id="27128664" name="Shape 5"/>
          <p:cNvSpPr/>
          <p:nvPr/>
        </p:nvSpPr>
        <p:spPr bwMode="auto">
          <a:xfrm>
            <a:off x="274320" y="713232"/>
            <a:ext cx="4160519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75728321" name="Shape 6"/>
          <p:cNvSpPr/>
          <p:nvPr/>
        </p:nvSpPr>
        <p:spPr bwMode="auto">
          <a:xfrm>
            <a:off x="475488" y="859536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34836968" name="Text 7"/>
          <p:cNvSpPr/>
          <p:nvPr/>
        </p:nvSpPr>
        <p:spPr bwMode="auto">
          <a:xfrm>
            <a:off x="493776" y="87782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map()</a:t>
            </a:r>
            <a:endParaRPr lang="en-US" sz="1200"/>
          </a:p>
        </p:txBody>
      </p:sp>
      <p:sp>
        <p:nvSpPr>
          <p:cNvPr id="67600045" name="Text 8"/>
          <p:cNvSpPr/>
          <p:nvPr/>
        </p:nvSpPr>
        <p:spPr bwMode="auto">
          <a:xfrm>
            <a:off x="475488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Nima qiladi?</a:t>
            </a:r>
            <a:endParaRPr lang="en-US" sz="1200"/>
          </a:p>
        </p:txBody>
      </p:sp>
      <p:sp>
        <p:nvSpPr>
          <p:cNvPr id="364816014" name="Text 9"/>
          <p:cNvSpPr/>
          <p:nvPr/>
        </p:nvSpPr>
        <p:spPr bwMode="auto">
          <a:xfrm>
            <a:off x="475488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Har bir elementga funksiya qo'llab, natija qaytaradi.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Qoida: map(funksiya, iterable)</a:t>
            </a:r>
            <a:endParaRPr lang="en-US" sz="1100"/>
          </a:p>
        </p:txBody>
      </p:sp>
      <p:sp>
        <p:nvSpPr>
          <p:cNvPr id="528949499" name="Shape 10"/>
          <p:cNvSpPr/>
          <p:nvPr/>
        </p:nvSpPr>
        <p:spPr bwMode="auto">
          <a:xfrm>
            <a:off x="475488" y="2103120"/>
            <a:ext cx="3758184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1012919" name="Text 11"/>
          <p:cNvSpPr/>
          <p:nvPr/>
        </p:nvSpPr>
        <p:spPr bwMode="auto">
          <a:xfrm>
            <a:off x="594360" y="2176272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numbers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[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]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Lambda bilan:</a:t>
            </a:r>
            <a:b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100" b="1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x: x**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numbers))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(result)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[1, 4, 9, 16]</a:t>
            </a:r>
            <a:endParaRPr lang="en-US" sz="1100"/>
          </a:p>
        </p:txBody>
      </p:sp>
      <p:sp>
        <p:nvSpPr>
          <p:cNvPr id="1140511449" name="Text 12"/>
          <p:cNvSpPr/>
          <p:nvPr/>
        </p:nvSpPr>
        <p:spPr bwMode="auto">
          <a:xfrm>
            <a:off x="475488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Qoidalar:</a:t>
            </a:r>
            <a:endParaRPr lang="en-US" sz="1200"/>
          </a:p>
        </p:txBody>
      </p:sp>
      <p:sp>
        <p:nvSpPr>
          <p:cNvPr id="669035525" name="Shape 13"/>
          <p:cNvSpPr/>
          <p:nvPr/>
        </p:nvSpPr>
        <p:spPr bwMode="auto">
          <a:xfrm>
            <a:off x="475488" y="39502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3884607" name="Text 14"/>
          <p:cNvSpPr/>
          <p:nvPr/>
        </p:nvSpPr>
        <p:spPr bwMode="auto">
          <a:xfrm>
            <a:off x="64008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1-argument: funksiya (lambda yoki def)</a:t>
            </a:r>
            <a:endParaRPr lang="en-US" sz="1050"/>
          </a:p>
        </p:txBody>
      </p:sp>
      <p:sp>
        <p:nvSpPr>
          <p:cNvPr id="1978720377" name="Shape 15"/>
          <p:cNvSpPr/>
          <p:nvPr/>
        </p:nvSpPr>
        <p:spPr bwMode="auto">
          <a:xfrm>
            <a:off x="475488" y="4224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57804468" name="Text 16"/>
          <p:cNvSpPr/>
          <p:nvPr/>
        </p:nvSpPr>
        <p:spPr bwMode="auto">
          <a:xfrm>
            <a:off x="640080" y="4187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2-argument: iterable (list, tuple, str)</a:t>
            </a:r>
            <a:endParaRPr lang="en-US" sz="1050"/>
          </a:p>
        </p:txBody>
      </p:sp>
      <p:sp>
        <p:nvSpPr>
          <p:cNvPr id="730986189" name="Shape 17"/>
          <p:cNvSpPr/>
          <p:nvPr/>
        </p:nvSpPr>
        <p:spPr bwMode="auto">
          <a:xfrm>
            <a:off x="475488" y="44988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72381845" name="Text 18"/>
          <p:cNvSpPr/>
          <p:nvPr/>
        </p:nvSpPr>
        <p:spPr bwMode="auto">
          <a:xfrm>
            <a:off x="640080" y="4462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Natijani ko'rish uchun list() kerak!</a:t>
            </a:r>
            <a:endParaRPr lang="en-US" sz="1050"/>
          </a:p>
        </p:txBody>
      </p:sp>
      <p:sp>
        <p:nvSpPr>
          <p:cNvPr id="1164003347" name="Shape 19"/>
          <p:cNvSpPr/>
          <p:nvPr/>
        </p:nvSpPr>
        <p:spPr bwMode="auto">
          <a:xfrm>
            <a:off x="4709160" y="713232"/>
            <a:ext cx="4160519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sx="100000" sy="100000" kx="0" ky="0" algn="bl" rotWithShape="0">
              <a:srgbClr val="94A3B8">
                <a:alpha val="18000"/>
              </a:srgbClr>
            </a:outerShdw>
          </a:effectLst>
        </p:spPr>
      </p:sp>
      <p:sp>
        <p:nvSpPr>
          <p:cNvPr id="1263946494" name="Shape 20"/>
          <p:cNvSpPr/>
          <p:nvPr/>
        </p:nvSpPr>
        <p:spPr bwMode="auto">
          <a:xfrm>
            <a:off x="4709160" y="713232"/>
            <a:ext cx="41605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98009605" name="Shape 21"/>
          <p:cNvSpPr/>
          <p:nvPr/>
        </p:nvSpPr>
        <p:spPr bwMode="auto">
          <a:xfrm>
            <a:off x="4910328" y="859536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66488534" name="Text 22"/>
          <p:cNvSpPr/>
          <p:nvPr/>
        </p:nvSpPr>
        <p:spPr bwMode="auto">
          <a:xfrm>
            <a:off x="4928616" y="87782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filter()</a:t>
            </a:r>
            <a:endParaRPr lang="en-US" sz="1200"/>
          </a:p>
        </p:txBody>
      </p:sp>
      <p:sp>
        <p:nvSpPr>
          <p:cNvPr id="1705653496" name="Text 23"/>
          <p:cNvSpPr/>
          <p:nvPr/>
        </p:nvSpPr>
        <p:spPr bwMode="auto">
          <a:xfrm>
            <a:off x="4910328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Nima qiladi?</a:t>
            </a:r>
            <a:endParaRPr lang="en-US" sz="1200"/>
          </a:p>
        </p:txBody>
      </p:sp>
      <p:sp>
        <p:nvSpPr>
          <p:cNvPr id="467725550" name="Text 24"/>
          <p:cNvSpPr/>
          <p:nvPr/>
        </p:nvSpPr>
        <p:spPr bwMode="auto">
          <a:xfrm>
            <a:off x="4910328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Shartga mos elementlarni ajratib oladi (True/False).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Qoida: filter(funksiya, iterable)</a:t>
            </a:r>
            <a:endParaRPr lang="en-US" sz="1100"/>
          </a:p>
        </p:txBody>
      </p:sp>
      <p:sp>
        <p:nvSpPr>
          <p:cNvPr id="142451912" name="Shape 25"/>
          <p:cNvSpPr/>
          <p:nvPr/>
        </p:nvSpPr>
        <p:spPr bwMode="auto">
          <a:xfrm>
            <a:off x="4910328" y="2103120"/>
            <a:ext cx="3758184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3639877" name="Text 26"/>
          <p:cNvSpPr/>
          <p:nvPr/>
        </p:nvSpPr>
        <p:spPr bwMode="auto">
          <a:xfrm>
            <a:off x="5029200" y="2176272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numbers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[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5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6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]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Juft sonlarni filtrlash:</a:t>
            </a:r>
            <a:b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0EA5E9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1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1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filter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100" b="1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x: x%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==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, numbers))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(result)</a:t>
            </a: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br>
              <a:rPr lang="en-US" sz="1100">
                <a:solidFill>
                  <a:srgbClr val="334155"/>
                </a:solidFill>
                <a:latin typeface="Consolas"/>
                <a:ea typeface="Consolas"/>
                <a:cs typeface="Consolas"/>
              </a:rPr>
            </a:br>
            <a:r>
              <a:rPr lang="en-US"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[2, 4, 6]</a:t>
            </a:r>
            <a:endParaRPr lang="en-US" sz="1100"/>
          </a:p>
        </p:txBody>
      </p:sp>
      <p:sp>
        <p:nvSpPr>
          <p:cNvPr id="1809439496" name="Text 27"/>
          <p:cNvSpPr/>
          <p:nvPr/>
        </p:nvSpPr>
        <p:spPr bwMode="auto">
          <a:xfrm>
            <a:off x="4910328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Qoidalar:</a:t>
            </a:r>
            <a:endParaRPr lang="en-US" sz="1200"/>
          </a:p>
        </p:txBody>
      </p:sp>
      <p:sp>
        <p:nvSpPr>
          <p:cNvPr id="315451840" name="Shape 28"/>
          <p:cNvSpPr/>
          <p:nvPr/>
        </p:nvSpPr>
        <p:spPr bwMode="auto">
          <a:xfrm>
            <a:off x="4910328" y="39502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8777891" name="Text 29"/>
          <p:cNvSpPr/>
          <p:nvPr/>
        </p:nvSpPr>
        <p:spPr bwMode="auto">
          <a:xfrm>
            <a:off x="507492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Funksiya True/False qaytarishi shart</a:t>
            </a:r>
            <a:endParaRPr lang="en-US" sz="1050"/>
          </a:p>
        </p:txBody>
      </p:sp>
      <p:sp>
        <p:nvSpPr>
          <p:cNvPr id="185126697" name="Shape 30"/>
          <p:cNvSpPr/>
          <p:nvPr/>
        </p:nvSpPr>
        <p:spPr bwMode="auto">
          <a:xfrm>
            <a:off x="4910328" y="4224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05155668" name="Text 31"/>
          <p:cNvSpPr/>
          <p:nvPr/>
        </p:nvSpPr>
        <p:spPr bwMode="auto">
          <a:xfrm>
            <a:off x="5074920" y="4187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True bo'lgan elementlar saqlanadi</a:t>
            </a:r>
            <a:endParaRPr lang="en-US" sz="1050"/>
          </a:p>
        </p:txBody>
      </p:sp>
      <p:sp>
        <p:nvSpPr>
          <p:cNvPr id="1957782052" name="Shape 32"/>
          <p:cNvSpPr/>
          <p:nvPr/>
        </p:nvSpPr>
        <p:spPr bwMode="auto">
          <a:xfrm>
            <a:off x="4910328" y="44988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34494244" name="Text 33"/>
          <p:cNvSpPr/>
          <p:nvPr/>
        </p:nvSpPr>
        <p:spPr bwMode="auto">
          <a:xfrm>
            <a:off x="5074920" y="4462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Natijani ko'rish uchun list() kerak!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5904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00538" y="-380999"/>
            <a:ext cx="5407268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2026-04-19T05:58:02Z</dcterms:created>
  <dcterms:modified xsi:type="dcterms:W3CDTF">2026-04-25T17:09:49Z</dcterms:modified>
</cp:coreProperties>
</file>