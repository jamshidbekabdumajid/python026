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63287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788028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96209261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0173879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5183082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16367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823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2680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8272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742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59276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419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372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1214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55755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022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088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8935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191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9610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9304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1486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7432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1360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863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130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604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309456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45014699" name="Shape 1"/>
          <p:cNvSpPr/>
          <p:nvPr/>
        </p:nvSpPr>
        <p:spPr bwMode="auto">
          <a:xfrm>
            <a:off x="274320" y="914400"/>
            <a:ext cx="1280160" cy="1280160"/>
          </a:xfrm>
          <a:prstGeom prst="ellipse">
            <a:avLst/>
          </a:prstGeom>
          <a:solidFill>
            <a:srgbClr val="38BDF8">
              <a:alpha val="20000"/>
            </a:srgbClr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937368951" name="Shape 2"/>
          <p:cNvSpPr/>
          <p:nvPr/>
        </p:nvSpPr>
        <p:spPr bwMode="auto">
          <a:xfrm>
            <a:off x="640080" y="1463040"/>
            <a:ext cx="1280160" cy="1280160"/>
          </a:xfrm>
          <a:prstGeom prst="ellipse">
            <a:avLst/>
          </a:prstGeom>
          <a:solidFill>
            <a:srgbClr val="34D399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653201063" name="Text 3"/>
          <p:cNvSpPr/>
          <p:nvPr/>
        </p:nvSpPr>
        <p:spPr bwMode="auto">
          <a:xfrm>
            <a:off x="1645920" y="6400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Data Type</a:t>
            </a:r>
            <a:endParaRPr lang="en-US" sz="4400"/>
          </a:p>
        </p:txBody>
      </p:sp>
      <p:sp>
        <p:nvSpPr>
          <p:cNvPr id="2021730851" name="Text 4"/>
          <p:cNvSpPr/>
          <p:nvPr/>
        </p:nvSpPr>
        <p:spPr bwMode="auto">
          <a:xfrm>
            <a:off x="1645920" y="1371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4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Methods</a:t>
            </a:r>
            <a:endParaRPr lang="en-US" sz="5400"/>
          </a:p>
        </p:txBody>
      </p:sp>
      <p:sp>
        <p:nvSpPr>
          <p:cNvPr id="1506156229" name="Text 5"/>
          <p:cNvSpPr/>
          <p:nvPr/>
        </p:nvSpPr>
        <p:spPr bwMode="auto">
          <a:xfrm>
            <a:off x="164592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i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Qiymat qaytaradigan va qaytarmaydigan methodlar</a:t>
            </a:r>
            <a:endParaRPr lang="en-US" sz="1800"/>
          </a:p>
        </p:txBody>
      </p:sp>
      <p:sp>
        <p:nvSpPr>
          <p:cNvPr id="832015005" name="Shape 6"/>
          <p:cNvSpPr/>
          <p:nvPr/>
        </p:nvSpPr>
        <p:spPr bwMode="auto"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6926876" name="Text 7"/>
          <p:cNvSpPr/>
          <p:nvPr/>
        </p:nvSpPr>
        <p:spPr bwMode="auto"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Python dasturlash tili | Method turlari va ularning ishlash tartibi</a:t>
            </a:r>
            <a:endParaRPr lang="en-US" sz="1100"/>
          </a:p>
        </p:txBody>
      </p:sp>
      <p:sp>
        <p:nvSpPr>
          <p:cNvPr id="1805679527" name="Shape 8"/>
          <p:cNvSpPr/>
          <p:nvPr/>
        </p:nvSpPr>
        <p:spPr bwMode="auto">
          <a:xfrm>
            <a:off x="1645920" y="2926080"/>
            <a:ext cx="5852160" cy="1371600"/>
          </a:xfrm>
          <a:prstGeom prst="roundRect">
            <a:avLst>
              <a:gd name="adj" fmla="val 8000"/>
            </a:avLst>
          </a:prstGeom>
          <a:solidFill>
            <a:srgbClr val="0D213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54520671" name="Text 9"/>
          <p:cNvSpPr/>
          <p:nvPr/>
        </p:nvSpPr>
        <p:spPr bwMode="auto">
          <a:xfrm>
            <a:off x="1828800" y="3017519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&gt;&gt;&gt; </a:t>
            </a:r>
            <a:r>
              <a:rPr lang="en-US" sz="130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my_list</a:t>
            </a:r>
            <a:r>
              <a:rPr lang="en-US" sz="13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= [3, 1, 2]</a:t>
            </a:r>
            <a:br>
              <a:rPr lang="en-US" sz="13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</a:br>
            <a:r>
              <a:rPr lang="en-US" sz="1300" b="1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&gt;&gt;&gt; </a:t>
            </a:r>
            <a:r>
              <a:rPr lang="en-US" sz="130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my_list</a:t>
            </a:r>
            <a:r>
              <a:rPr lang="en-US" sz="13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.sort()          # None qaytaradi</a:t>
            </a:r>
            <a:br>
              <a:rPr lang="en-US" sz="13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</a:br>
            <a:r>
              <a:rPr lang="en-US" sz="1300" b="1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&gt;&gt;&gt; </a:t>
            </a:r>
            <a:r>
              <a:rPr lang="en-US" sz="13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sorted</a:t>
            </a:r>
            <a:r>
              <a:rPr lang="en-US" sz="13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(my_list)       # List qaytaradi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487974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05915189" name="Text 1"/>
          <p:cNvSpPr/>
          <p:nvPr/>
        </p:nvSpPr>
        <p:spPr bwMode="auto"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 nima?</a:t>
            </a:r>
            <a:endParaRPr lang="en-US" sz="3600"/>
          </a:p>
        </p:txBody>
      </p:sp>
      <p:sp>
        <p:nvSpPr>
          <p:cNvPr id="1785118857" name="Shape 2"/>
          <p:cNvSpPr/>
          <p:nvPr/>
        </p:nvSpPr>
        <p:spPr bwMode="auto">
          <a:xfrm>
            <a:off x="274320" y="914400"/>
            <a:ext cx="4114800" cy="2286000"/>
          </a:xfrm>
          <a:prstGeom prst="rect">
            <a:avLst/>
          </a:prstGeom>
          <a:solidFill>
            <a:srgbClr val="122030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533382872" name="Shape 3"/>
          <p:cNvSpPr/>
          <p:nvPr/>
        </p:nvSpPr>
        <p:spPr bwMode="auto">
          <a:xfrm>
            <a:off x="274320" y="914400"/>
            <a:ext cx="4114800" cy="411480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8087123" name="Text 4"/>
          <p:cNvSpPr/>
          <p:nvPr/>
        </p:nvSpPr>
        <p:spPr bwMode="auto">
          <a:xfrm>
            <a:off x="411480" y="9326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⚙️  Method</a:t>
            </a:r>
            <a:endParaRPr lang="en-US" sz="1500"/>
          </a:p>
        </p:txBody>
      </p:sp>
      <p:sp>
        <p:nvSpPr>
          <p:cNvPr id="417405747" name="Text 5"/>
          <p:cNvSpPr/>
          <p:nvPr/>
        </p:nvSpPr>
        <p:spPr bwMode="auto">
          <a:xfrm>
            <a:off x="457200" y="14173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Ob'ektga tegishli funksiya.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Ob'ekt.method() shaklida chaqiriladi.</a:t>
            </a:r>
            <a:endParaRPr lang="en-US" sz="1400"/>
          </a:p>
        </p:txBody>
      </p:sp>
      <p:sp>
        <p:nvSpPr>
          <p:cNvPr id="1561399862" name="Shape 6"/>
          <p:cNvSpPr/>
          <p:nvPr/>
        </p:nvSpPr>
        <p:spPr bwMode="auto">
          <a:xfrm>
            <a:off x="4754880" y="914400"/>
            <a:ext cx="4114800" cy="2286000"/>
          </a:xfrm>
          <a:prstGeom prst="rect">
            <a:avLst/>
          </a:prstGeom>
          <a:solidFill>
            <a:srgbClr val="12203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486804160" name="Shape 7"/>
          <p:cNvSpPr/>
          <p:nvPr/>
        </p:nvSpPr>
        <p:spPr bwMode="auto">
          <a:xfrm>
            <a:off x="4754880" y="914400"/>
            <a:ext cx="4114800" cy="411480"/>
          </a:xfrm>
          <a:prstGeom prst="rect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24578672" name="Text 8"/>
          <p:cNvSpPr/>
          <p:nvPr/>
        </p:nvSpPr>
        <p:spPr bwMode="auto">
          <a:xfrm>
            <a:off x="4892039" y="9326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📦  Data Type</a:t>
            </a:r>
            <a:endParaRPr lang="en-US" sz="1500"/>
          </a:p>
        </p:txBody>
      </p:sp>
      <p:sp>
        <p:nvSpPr>
          <p:cNvPr id="1566394208" name="Text 9"/>
          <p:cNvSpPr/>
          <p:nvPr/>
        </p:nvSpPr>
        <p:spPr bwMode="auto">
          <a:xfrm>
            <a:off x="4937760" y="14173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str, list, dict, set, tuple —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bular Python-ning asosiy turlari.</a:t>
            </a:r>
            <a:endParaRPr lang="en-US" sz="1400"/>
          </a:p>
        </p:txBody>
      </p:sp>
      <p:sp>
        <p:nvSpPr>
          <p:cNvPr id="1837704176" name="Text 10"/>
          <p:cNvSpPr/>
          <p:nvPr/>
        </p:nvSpPr>
        <p:spPr bwMode="auto"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 turlari:</a:t>
            </a:r>
            <a:endParaRPr lang="en-US" sz="1800"/>
          </a:p>
        </p:txBody>
      </p:sp>
      <p:sp>
        <p:nvSpPr>
          <p:cNvPr id="967990320" name="Shape 11"/>
          <p:cNvSpPr/>
          <p:nvPr/>
        </p:nvSpPr>
        <p:spPr bwMode="auto">
          <a:xfrm>
            <a:off x="274320" y="3749040"/>
            <a:ext cx="4114800" cy="1188720"/>
          </a:xfrm>
          <a:prstGeom prst="rect">
            <a:avLst/>
          </a:prstGeom>
          <a:solidFill>
            <a:srgbClr val="12203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04893513" name="Text 12"/>
          <p:cNvSpPr/>
          <p:nvPr/>
        </p:nvSpPr>
        <p:spPr bwMode="auto">
          <a:xfrm>
            <a:off x="41148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 Qiymat QAYTARADI</a:t>
            </a:r>
            <a:endParaRPr lang="en-US" sz="1300"/>
          </a:p>
        </p:txBody>
      </p:sp>
      <p:sp>
        <p:nvSpPr>
          <p:cNvPr id="364872855" name="Text 13"/>
          <p:cNvSpPr/>
          <p:nvPr/>
        </p:nvSpPr>
        <p:spPr bwMode="auto">
          <a:xfrm>
            <a:off x="411480" y="41148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return kalit so'zi bilan qiymat qaytaradi.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Natijani o'zgaruvchiga saqlash mumkin.</a:t>
            </a:r>
            <a:endParaRPr lang="en-US" sz="1200"/>
          </a:p>
        </p:txBody>
      </p:sp>
      <p:sp>
        <p:nvSpPr>
          <p:cNvPr id="1974872669" name="Shape 14"/>
          <p:cNvSpPr/>
          <p:nvPr/>
        </p:nvSpPr>
        <p:spPr bwMode="auto">
          <a:xfrm>
            <a:off x="4754880" y="3749040"/>
            <a:ext cx="4114800" cy="1188720"/>
          </a:xfrm>
          <a:prstGeom prst="rect">
            <a:avLst/>
          </a:prstGeom>
          <a:solidFill>
            <a:srgbClr val="122030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463890981" name="Text 15"/>
          <p:cNvSpPr/>
          <p:nvPr/>
        </p:nvSpPr>
        <p:spPr bwMode="auto">
          <a:xfrm>
            <a:off x="4892039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43F5E"/>
                </a:solidFill>
                <a:latin typeface="Calibri"/>
                <a:ea typeface="Calibri"/>
                <a:cs typeface="Calibri"/>
              </a:rPr>
              <a:t>❌  Qiymat QAYTARMAYDI</a:t>
            </a:r>
            <a:endParaRPr lang="en-US" sz="1300"/>
          </a:p>
        </p:txBody>
      </p:sp>
      <p:sp>
        <p:nvSpPr>
          <p:cNvPr id="977548205" name="Text 16"/>
          <p:cNvSpPr/>
          <p:nvPr/>
        </p:nvSpPr>
        <p:spPr bwMode="auto">
          <a:xfrm>
            <a:off x="4892039" y="41148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None qaytaradi.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Ob'ektni to'g'ridan-to'g'ri o'zgartiradi (in-place).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9905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69187102" name="Text 1"/>
          <p:cNvSpPr/>
          <p:nvPr/>
        </p:nvSpPr>
        <p:spPr bwMode="auto"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🔤  String Methods</a:t>
            </a:r>
            <a:endParaRPr lang="en-US" sz="3400"/>
          </a:p>
        </p:txBody>
      </p:sp>
      <p:sp>
        <p:nvSpPr>
          <p:cNvPr id="165577172" name="Shape 2"/>
          <p:cNvSpPr/>
          <p:nvPr/>
        </p:nvSpPr>
        <p:spPr bwMode="auto">
          <a:xfrm>
            <a:off x="274320" y="749808"/>
            <a:ext cx="859536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8570557" name="Shape 3"/>
          <p:cNvSpPr/>
          <p:nvPr/>
        </p:nvSpPr>
        <p:spPr bwMode="auto">
          <a:xfrm>
            <a:off x="274320" y="822960"/>
            <a:ext cx="2194560" cy="347472"/>
          </a:xfrm>
          <a:prstGeom prst="rect">
            <a:avLst/>
          </a:prstGeom>
          <a:solidFill>
            <a:srgbClr val="F472B6">
              <a:alpha val="7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94734008" name="Text 4"/>
          <p:cNvSpPr/>
          <p:nvPr/>
        </p:nvSpPr>
        <p:spPr bwMode="auto">
          <a:xfrm>
            <a:off x="320040" y="8412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</a:t>
            </a:r>
            <a:endParaRPr lang="en-US" sz="1200"/>
          </a:p>
        </p:txBody>
      </p:sp>
      <p:sp>
        <p:nvSpPr>
          <p:cNvPr id="332122657" name="Shape 5"/>
          <p:cNvSpPr/>
          <p:nvPr/>
        </p:nvSpPr>
        <p:spPr bwMode="auto">
          <a:xfrm>
            <a:off x="2560320" y="822960"/>
            <a:ext cx="1463040" cy="347472"/>
          </a:xfrm>
          <a:prstGeom prst="rect">
            <a:avLst/>
          </a:prstGeom>
          <a:solidFill>
            <a:srgbClr val="F472B6">
              <a:alpha val="7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12488743" name="Text 6"/>
          <p:cNvSpPr/>
          <p:nvPr/>
        </p:nvSpPr>
        <p:spPr bwMode="auto">
          <a:xfrm>
            <a:off x="2606040" y="8412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Qiymat qaytaradimi?</a:t>
            </a:r>
            <a:endParaRPr lang="en-US" sz="1200"/>
          </a:p>
        </p:txBody>
      </p:sp>
      <p:sp>
        <p:nvSpPr>
          <p:cNvPr id="1132262859" name="Shape 7"/>
          <p:cNvSpPr/>
          <p:nvPr/>
        </p:nvSpPr>
        <p:spPr bwMode="auto">
          <a:xfrm>
            <a:off x="4114800" y="822960"/>
            <a:ext cx="2926080" cy="347472"/>
          </a:xfrm>
          <a:prstGeom prst="rect">
            <a:avLst/>
          </a:prstGeom>
          <a:solidFill>
            <a:srgbClr val="F472B6">
              <a:alpha val="7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70082198" name="Text 8"/>
          <p:cNvSpPr/>
          <p:nvPr/>
        </p:nvSpPr>
        <p:spPr bwMode="auto">
          <a:xfrm>
            <a:off x="4160519" y="84124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Misol</a:t>
            </a:r>
            <a:endParaRPr lang="en-US" sz="1200"/>
          </a:p>
        </p:txBody>
      </p:sp>
      <p:sp>
        <p:nvSpPr>
          <p:cNvPr id="1018782030" name="Shape 9"/>
          <p:cNvSpPr/>
          <p:nvPr/>
        </p:nvSpPr>
        <p:spPr bwMode="auto">
          <a:xfrm>
            <a:off x="7132320" y="822960"/>
            <a:ext cx="1828800" cy="347472"/>
          </a:xfrm>
          <a:prstGeom prst="rect">
            <a:avLst/>
          </a:prstGeom>
          <a:solidFill>
            <a:srgbClr val="F472B6">
              <a:alpha val="7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26238618" name="Text 10"/>
          <p:cNvSpPr/>
          <p:nvPr/>
        </p:nvSpPr>
        <p:spPr bwMode="auto">
          <a:xfrm>
            <a:off x="7178039" y="84124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Natija</a:t>
            </a:r>
            <a:endParaRPr lang="en-US" sz="1200"/>
          </a:p>
        </p:txBody>
      </p:sp>
      <p:sp>
        <p:nvSpPr>
          <p:cNvPr id="53619651" name="Shape 11"/>
          <p:cNvSpPr/>
          <p:nvPr/>
        </p:nvSpPr>
        <p:spPr bwMode="auto">
          <a:xfrm>
            <a:off x="274320" y="1207008"/>
            <a:ext cx="219456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59957903" name="Text 12"/>
          <p:cNvSpPr/>
          <p:nvPr/>
        </p:nvSpPr>
        <p:spPr bwMode="auto">
          <a:xfrm>
            <a:off x="320040" y="122529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.upper()</a:t>
            </a:r>
            <a:endParaRPr lang="en-US" sz="1200"/>
          </a:p>
        </p:txBody>
      </p:sp>
      <p:sp>
        <p:nvSpPr>
          <p:cNvPr id="1673819829" name="Shape 13"/>
          <p:cNvSpPr/>
          <p:nvPr/>
        </p:nvSpPr>
        <p:spPr bwMode="auto">
          <a:xfrm>
            <a:off x="2560320" y="1207008"/>
            <a:ext cx="146304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63240656" name="Text 14"/>
          <p:cNvSpPr/>
          <p:nvPr/>
        </p:nvSpPr>
        <p:spPr bwMode="auto">
          <a:xfrm>
            <a:off x="2606040" y="1225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HA</a:t>
            </a:r>
            <a:endParaRPr lang="en-US" sz="1100"/>
          </a:p>
        </p:txBody>
      </p:sp>
      <p:sp>
        <p:nvSpPr>
          <p:cNvPr id="2063936018" name="Shape 15"/>
          <p:cNvSpPr/>
          <p:nvPr/>
        </p:nvSpPr>
        <p:spPr bwMode="auto">
          <a:xfrm>
            <a:off x="4114800" y="1207008"/>
            <a:ext cx="292608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33429608" name="Text 16"/>
          <p:cNvSpPr/>
          <p:nvPr/>
        </p:nvSpPr>
        <p:spPr bwMode="auto">
          <a:xfrm>
            <a:off x="4160519" y="122529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"salom".upper()</a:t>
            </a:r>
            <a:endParaRPr lang="en-US" sz="1100"/>
          </a:p>
        </p:txBody>
      </p:sp>
      <p:sp>
        <p:nvSpPr>
          <p:cNvPr id="1816278828" name="Shape 17"/>
          <p:cNvSpPr/>
          <p:nvPr/>
        </p:nvSpPr>
        <p:spPr bwMode="auto">
          <a:xfrm>
            <a:off x="7132320" y="1207008"/>
            <a:ext cx="182880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71181639" name="Text 18"/>
          <p:cNvSpPr/>
          <p:nvPr/>
        </p:nvSpPr>
        <p:spPr bwMode="auto">
          <a:xfrm>
            <a:off x="7178039" y="122529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"SALOM"</a:t>
            </a:r>
            <a:endParaRPr lang="en-US" sz="1100"/>
          </a:p>
        </p:txBody>
      </p:sp>
      <p:sp>
        <p:nvSpPr>
          <p:cNvPr id="609722331" name="Shape 19"/>
          <p:cNvSpPr/>
          <p:nvPr/>
        </p:nvSpPr>
        <p:spPr bwMode="auto">
          <a:xfrm>
            <a:off x="274320" y="1554480"/>
            <a:ext cx="219456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52950057" name="Text 20"/>
          <p:cNvSpPr/>
          <p:nvPr/>
        </p:nvSpPr>
        <p:spPr bwMode="auto">
          <a:xfrm>
            <a:off x="320040" y="15727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.lower()</a:t>
            </a:r>
            <a:endParaRPr lang="en-US" sz="1200"/>
          </a:p>
        </p:txBody>
      </p:sp>
      <p:sp>
        <p:nvSpPr>
          <p:cNvPr id="1910993518" name="Shape 21"/>
          <p:cNvSpPr/>
          <p:nvPr/>
        </p:nvSpPr>
        <p:spPr bwMode="auto">
          <a:xfrm>
            <a:off x="2560320" y="1554480"/>
            <a:ext cx="146304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5770901" name="Text 22"/>
          <p:cNvSpPr/>
          <p:nvPr/>
        </p:nvSpPr>
        <p:spPr bwMode="auto">
          <a:xfrm>
            <a:off x="2606040" y="1572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HA</a:t>
            </a:r>
            <a:endParaRPr lang="en-US" sz="1100"/>
          </a:p>
        </p:txBody>
      </p:sp>
      <p:sp>
        <p:nvSpPr>
          <p:cNvPr id="2077806077" name="Shape 23"/>
          <p:cNvSpPr/>
          <p:nvPr/>
        </p:nvSpPr>
        <p:spPr bwMode="auto">
          <a:xfrm>
            <a:off x="4114800" y="1554480"/>
            <a:ext cx="292608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14970916" name="Text 24"/>
          <p:cNvSpPr/>
          <p:nvPr/>
        </p:nvSpPr>
        <p:spPr bwMode="auto">
          <a:xfrm>
            <a:off x="4160519" y="15727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"DUNYO".lower()</a:t>
            </a:r>
            <a:endParaRPr lang="en-US" sz="1100"/>
          </a:p>
        </p:txBody>
      </p:sp>
      <p:sp>
        <p:nvSpPr>
          <p:cNvPr id="506173438" name="Shape 25"/>
          <p:cNvSpPr/>
          <p:nvPr/>
        </p:nvSpPr>
        <p:spPr bwMode="auto">
          <a:xfrm>
            <a:off x="7132320" y="1554480"/>
            <a:ext cx="182880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69476270" name="Text 26"/>
          <p:cNvSpPr/>
          <p:nvPr/>
        </p:nvSpPr>
        <p:spPr bwMode="auto">
          <a:xfrm>
            <a:off x="7178039" y="15727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"dunyo"</a:t>
            </a:r>
            <a:endParaRPr lang="en-US" sz="1100"/>
          </a:p>
        </p:txBody>
      </p:sp>
      <p:sp>
        <p:nvSpPr>
          <p:cNvPr id="960496058" name="Shape 27"/>
          <p:cNvSpPr/>
          <p:nvPr/>
        </p:nvSpPr>
        <p:spPr bwMode="auto">
          <a:xfrm>
            <a:off x="274320" y="1901952"/>
            <a:ext cx="219456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79802964" name="Text 28"/>
          <p:cNvSpPr/>
          <p:nvPr/>
        </p:nvSpPr>
        <p:spPr bwMode="auto">
          <a:xfrm>
            <a:off x="320040" y="19202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.strip()</a:t>
            </a:r>
            <a:endParaRPr lang="en-US" sz="1200"/>
          </a:p>
        </p:txBody>
      </p:sp>
      <p:sp>
        <p:nvSpPr>
          <p:cNvPr id="1868884094" name="Shape 29"/>
          <p:cNvSpPr/>
          <p:nvPr/>
        </p:nvSpPr>
        <p:spPr bwMode="auto">
          <a:xfrm>
            <a:off x="2560320" y="1901952"/>
            <a:ext cx="146304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72647804" name="Text 30"/>
          <p:cNvSpPr/>
          <p:nvPr/>
        </p:nvSpPr>
        <p:spPr bwMode="auto">
          <a:xfrm>
            <a:off x="2606040" y="1920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HA</a:t>
            </a:r>
            <a:endParaRPr lang="en-US" sz="1100"/>
          </a:p>
        </p:txBody>
      </p:sp>
      <p:sp>
        <p:nvSpPr>
          <p:cNvPr id="1599077250" name="Shape 31"/>
          <p:cNvSpPr/>
          <p:nvPr/>
        </p:nvSpPr>
        <p:spPr bwMode="auto">
          <a:xfrm>
            <a:off x="4114800" y="1901952"/>
            <a:ext cx="292608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26554387" name="Text 32"/>
          <p:cNvSpPr/>
          <p:nvPr/>
        </p:nvSpPr>
        <p:spPr bwMode="auto">
          <a:xfrm>
            <a:off x="4160519" y="19202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  hi  ".strip()</a:t>
            </a:r>
            <a:endParaRPr lang="en-US" sz="1100"/>
          </a:p>
        </p:txBody>
      </p:sp>
      <p:sp>
        <p:nvSpPr>
          <p:cNvPr id="1654855383" name="Shape 33"/>
          <p:cNvSpPr/>
          <p:nvPr/>
        </p:nvSpPr>
        <p:spPr bwMode="auto">
          <a:xfrm>
            <a:off x="7132320" y="1901952"/>
            <a:ext cx="182880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5272937" name="Text 34"/>
          <p:cNvSpPr/>
          <p:nvPr/>
        </p:nvSpPr>
        <p:spPr bwMode="auto">
          <a:xfrm>
            <a:off x="7178039" y="1920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"hi"</a:t>
            </a:r>
            <a:endParaRPr lang="en-US" sz="1100"/>
          </a:p>
        </p:txBody>
      </p:sp>
      <p:sp>
        <p:nvSpPr>
          <p:cNvPr id="1985682645" name="Shape 35"/>
          <p:cNvSpPr/>
          <p:nvPr/>
        </p:nvSpPr>
        <p:spPr bwMode="auto">
          <a:xfrm>
            <a:off x="274320" y="2249424"/>
            <a:ext cx="219456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99255849" name="Text 36"/>
          <p:cNvSpPr/>
          <p:nvPr/>
        </p:nvSpPr>
        <p:spPr bwMode="auto">
          <a:xfrm>
            <a:off x="320040" y="22677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.replace()</a:t>
            </a:r>
            <a:endParaRPr lang="en-US" sz="1200"/>
          </a:p>
        </p:txBody>
      </p:sp>
      <p:sp>
        <p:nvSpPr>
          <p:cNvPr id="789386179" name="Shape 37"/>
          <p:cNvSpPr/>
          <p:nvPr/>
        </p:nvSpPr>
        <p:spPr bwMode="auto">
          <a:xfrm>
            <a:off x="2560320" y="2249424"/>
            <a:ext cx="146304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7623633" name="Text 38"/>
          <p:cNvSpPr/>
          <p:nvPr/>
        </p:nvSpPr>
        <p:spPr bwMode="auto">
          <a:xfrm>
            <a:off x="2606040" y="22677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HA</a:t>
            </a:r>
            <a:endParaRPr lang="en-US" sz="1100"/>
          </a:p>
        </p:txBody>
      </p:sp>
      <p:sp>
        <p:nvSpPr>
          <p:cNvPr id="1081577216" name="Shape 39"/>
          <p:cNvSpPr/>
          <p:nvPr/>
        </p:nvSpPr>
        <p:spPr bwMode="auto">
          <a:xfrm>
            <a:off x="4114800" y="2249424"/>
            <a:ext cx="292608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44401134" name="Text 40"/>
          <p:cNvSpPr/>
          <p:nvPr/>
        </p:nvSpPr>
        <p:spPr bwMode="auto">
          <a:xfrm>
            <a:off x="4160519" y="22677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"abc".replace("a","x")</a:t>
            </a:r>
            <a:endParaRPr lang="en-US" sz="1100"/>
          </a:p>
        </p:txBody>
      </p:sp>
      <p:sp>
        <p:nvSpPr>
          <p:cNvPr id="1402491623" name="Shape 41"/>
          <p:cNvSpPr/>
          <p:nvPr/>
        </p:nvSpPr>
        <p:spPr bwMode="auto">
          <a:xfrm>
            <a:off x="7132320" y="2249424"/>
            <a:ext cx="182880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83329646" name="Text 42"/>
          <p:cNvSpPr/>
          <p:nvPr/>
        </p:nvSpPr>
        <p:spPr bwMode="auto">
          <a:xfrm>
            <a:off x="7178039" y="22677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"xbc"</a:t>
            </a:r>
            <a:endParaRPr lang="en-US" sz="1100"/>
          </a:p>
        </p:txBody>
      </p:sp>
      <p:sp>
        <p:nvSpPr>
          <p:cNvPr id="1162239662" name="Shape 43"/>
          <p:cNvSpPr/>
          <p:nvPr/>
        </p:nvSpPr>
        <p:spPr bwMode="auto">
          <a:xfrm>
            <a:off x="274320" y="2596896"/>
            <a:ext cx="219456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90497849" name="Text 44"/>
          <p:cNvSpPr/>
          <p:nvPr/>
        </p:nvSpPr>
        <p:spPr bwMode="auto">
          <a:xfrm>
            <a:off x="320040" y="261518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.split()</a:t>
            </a:r>
            <a:endParaRPr lang="en-US" sz="1200"/>
          </a:p>
        </p:txBody>
      </p:sp>
      <p:sp>
        <p:nvSpPr>
          <p:cNvPr id="1792418670" name="Shape 45"/>
          <p:cNvSpPr/>
          <p:nvPr/>
        </p:nvSpPr>
        <p:spPr bwMode="auto">
          <a:xfrm>
            <a:off x="2560320" y="2596896"/>
            <a:ext cx="146304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3605604" name="Text 46"/>
          <p:cNvSpPr/>
          <p:nvPr/>
        </p:nvSpPr>
        <p:spPr bwMode="auto">
          <a:xfrm>
            <a:off x="2606040" y="26151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HA</a:t>
            </a:r>
            <a:endParaRPr lang="en-US" sz="1100"/>
          </a:p>
        </p:txBody>
      </p:sp>
      <p:sp>
        <p:nvSpPr>
          <p:cNvPr id="403636064" name="Shape 47"/>
          <p:cNvSpPr/>
          <p:nvPr/>
        </p:nvSpPr>
        <p:spPr bwMode="auto">
          <a:xfrm>
            <a:off x="4114800" y="2596896"/>
            <a:ext cx="292608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54084372" name="Text 48"/>
          <p:cNvSpPr/>
          <p:nvPr/>
        </p:nvSpPr>
        <p:spPr bwMode="auto">
          <a:xfrm>
            <a:off x="4160519" y="261518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"a,b".split(",")</a:t>
            </a:r>
            <a:endParaRPr lang="en-US" sz="1100"/>
          </a:p>
        </p:txBody>
      </p:sp>
      <p:sp>
        <p:nvSpPr>
          <p:cNvPr id="1703272124" name="Shape 49"/>
          <p:cNvSpPr/>
          <p:nvPr/>
        </p:nvSpPr>
        <p:spPr bwMode="auto">
          <a:xfrm>
            <a:off x="7132320" y="2596896"/>
            <a:ext cx="182880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38168440" name="Text 50"/>
          <p:cNvSpPr/>
          <p:nvPr/>
        </p:nvSpPr>
        <p:spPr bwMode="auto">
          <a:xfrm>
            <a:off x="7178039" y="26151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["a","b"]</a:t>
            </a:r>
            <a:endParaRPr lang="en-US" sz="1100"/>
          </a:p>
        </p:txBody>
      </p:sp>
      <p:sp>
        <p:nvSpPr>
          <p:cNvPr id="179525313" name="Shape 51"/>
          <p:cNvSpPr/>
          <p:nvPr/>
        </p:nvSpPr>
        <p:spPr bwMode="auto">
          <a:xfrm>
            <a:off x="274320" y="2944368"/>
            <a:ext cx="219456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55008227" name="Text 52"/>
          <p:cNvSpPr/>
          <p:nvPr/>
        </p:nvSpPr>
        <p:spPr bwMode="auto">
          <a:xfrm>
            <a:off x="320040" y="296265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.find()</a:t>
            </a:r>
            <a:endParaRPr lang="en-US" sz="1200"/>
          </a:p>
        </p:txBody>
      </p:sp>
      <p:sp>
        <p:nvSpPr>
          <p:cNvPr id="1022864655" name="Shape 53"/>
          <p:cNvSpPr/>
          <p:nvPr/>
        </p:nvSpPr>
        <p:spPr bwMode="auto">
          <a:xfrm>
            <a:off x="2560320" y="2944368"/>
            <a:ext cx="146304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19411475" name="Text 54"/>
          <p:cNvSpPr/>
          <p:nvPr/>
        </p:nvSpPr>
        <p:spPr bwMode="auto">
          <a:xfrm>
            <a:off x="2606040" y="29626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HA</a:t>
            </a:r>
            <a:endParaRPr lang="en-US" sz="1100"/>
          </a:p>
        </p:txBody>
      </p:sp>
      <p:sp>
        <p:nvSpPr>
          <p:cNvPr id="1493419193" name="Shape 55"/>
          <p:cNvSpPr/>
          <p:nvPr/>
        </p:nvSpPr>
        <p:spPr bwMode="auto">
          <a:xfrm>
            <a:off x="4114800" y="2944368"/>
            <a:ext cx="292608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44155727" name="Text 56"/>
          <p:cNvSpPr/>
          <p:nvPr/>
        </p:nvSpPr>
        <p:spPr bwMode="auto">
          <a:xfrm>
            <a:off x="4160519" y="296265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"hello".find("l")</a:t>
            </a:r>
            <a:endParaRPr lang="en-US" sz="1100"/>
          </a:p>
        </p:txBody>
      </p:sp>
      <p:sp>
        <p:nvSpPr>
          <p:cNvPr id="901854265" name="Shape 57"/>
          <p:cNvSpPr/>
          <p:nvPr/>
        </p:nvSpPr>
        <p:spPr bwMode="auto">
          <a:xfrm>
            <a:off x="7132320" y="2944368"/>
            <a:ext cx="182880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11016" name="Text 58"/>
          <p:cNvSpPr/>
          <p:nvPr/>
        </p:nvSpPr>
        <p:spPr bwMode="auto">
          <a:xfrm>
            <a:off x="7178039" y="29626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2</a:t>
            </a:r>
            <a:endParaRPr lang="en-US" sz="1100"/>
          </a:p>
        </p:txBody>
      </p:sp>
      <p:sp>
        <p:nvSpPr>
          <p:cNvPr id="1945549996" name="Shape 59"/>
          <p:cNvSpPr/>
          <p:nvPr/>
        </p:nvSpPr>
        <p:spPr bwMode="auto">
          <a:xfrm>
            <a:off x="274320" y="3291840"/>
            <a:ext cx="219456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10251911" name="Text 60"/>
          <p:cNvSpPr/>
          <p:nvPr/>
        </p:nvSpPr>
        <p:spPr bwMode="auto">
          <a:xfrm>
            <a:off x="320040" y="3310127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.count()</a:t>
            </a:r>
            <a:endParaRPr lang="en-US" sz="1200"/>
          </a:p>
        </p:txBody>
      </p:sp>
      <p:sp>
        <p:nvSpPr>
          <p:cNvPr id="1962353242" name="Shape 61"/>
          <p:cNvSpPr/>
          <p:nvPr/>
        </p:nvSpPr>
        <p:spPr bwMode="auto">
          <a:xfrm>
            <a:off x="2560320" y="3291840"/>
            <a:ext cx="146304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3715607" name="Text 62"/>
          <p:cNvSpPr/>
          <p:nvPr/>
        </p:nvSpPr>
        <p:spPr bwMode="auto">
          <a:xfrm>
            <a:off x="2606040" y="3310127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HA</a:t>
            </a:r>
            <a:endParaRPr lang="en-US" sz="1100"/>
          </a:p>
        </p:txBody>
      </p:sp>
      <p:sp>
        <p:nvSpPr>
          <p:cNvPr id="1360515256" name="Shape 63"/>
          <p:cNvSpPr/>
          <p:nvPr/>
        </p:nvSpPr>
        <p:spPr bwMode="auto">
          <a:xfrm>
            <a:off x="4114800" y="3291840"/>
            <a:ext cx="292608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40501702" name="Text 64"/>
          <p:cNvSpPr/>
          <p:nvPr/>
        </p:nvSpPr>
        <p:spPr bwMode="auto">
          <a:xfrm>
            <a:off x="4160519" y="3310127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"aaa".count("a")</a:t>
            </a:r>
            <a:endParaRPr lang="en-US" sz="1100"/>
          </a:p>
        </p:txBody>
      </p:sp>
      <p:sp>
        <p:nvSpPr>
          <p:cNvPr id="1157296860" name="Shape 65"/>
          <p:cNvSpPr/>
          <p:nvPr/>
        </p:nvSpPr>
        <p:spPr bwMode="auto">
          <a:xfrm>
            <a:off x="7132320" y="3291840"/>
            <a:ext cx="182880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4590971" name="Text 66"/>
          <p:cNvSpPr/>
          <p:nvPr/>
        </p:nvSpPr>
        <p:spPr bwMode="auto">
          <a:xfrm>
            <a:off x="7178039" y="3310127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3</a:t>
            </a:r>
            <a:endParaRPr lang="en-US" sz="1100"/>
          </a:p>
        </p:txBody>
      </p:sp>
      <p:sp>
        <p:nvSpPr>
          <p:cNvPr id="1081999670" name="Shape 67"/>
          <p:cNvSpPr/>
          <p:nvPr/>
        </p:nvSpPr>
        <p:spPr bwMode="auto">
          <a:xfrm>
            <a:off x="274320" y="3639312"/>
            <a:ext cx="219456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58831570" name="Text 68"/>
          <p:cNvSpPr/>
          <p:nvPr/>
        </p:nvSpPr>
        <p:spPr bwMode="auto">
          <a:xfrm>
            <a:off x="320040" y="36576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.startswith()</a:t>
            </a:r>
            <a:endParaRPr lang="en-US" sz="1200"/>
          </a:p>
        </p:txBody>
      </p:sp>
      <p:sp>
        <p:nvSpPr>
          <p:cNvPr id="947098088" name="Shape 69"/>
          <p:cNvSpPr/>
          <p:nvPr/>
        </p:nvSpPr>
        <p:spPr bwMode="auto">
          <a:xfrm>
            <a:off x="2560320" y="3639312"/>
            <a:ext cx="146304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4218648" name="Text 70"/>
          <p:cNvSpPr/>
          <p:nvPr/>
        </p:nvSpPr>
        <p:spPr bwMode="auto">
          <a:xfrm>
            <a:off x="2606040" y="36576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HA</a:t>
            </a:r>
            <a:endParaRPr lang="en-US" sz="1100"/>
          </a:p>
        </p:txBody>
      </p:sp>
      <p:sp>
        <p:nvSpPr>
          <p:cNvPr id="556833460" name="Shape 71"/>
          <p:cNvSpPr/>
          <p:nvPr/>
        </p:nvSpPr>
        <p:spPr bwMode="auto">
          <a:xfrm>
            <a:off x="4114800" y="3639312"/>
            <a:ext cx="292608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90563252" name="Text 72"/>
          <p:cNvSpPr/>
          <p:nvPr/>
        </p:nvSpPr>
        <p:spPr bwMode="auto">
          <a:xfrm>
            <a:off x="4160519" y="36576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"py".startswith("p")</a:t>
            </a:r>
            <a:endParaRPr lang="en-US" sz="1100"/>
          </a:p>
        </p:txBody>
      </p:sp>
      <p:sp>
        <p:nvSpPr>
          <p:cNvPr id="158234980" name="Shape 73"/>
          <p:cNvSpPr/>
          <p:nvPr/>
        </p:nvSpPr>
        <p:spPr bwMode="auto">
          <a:xfrm>
            <a:off x="7132320" y="3639312"/>
            <a:ext cx="182880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4276401" name="Text 74"/>
          <p:cNvSpPr/>
          <p:nvPr/>
        </p:nvSpPr>
        <p:spPr bwMode="auto">
          <a:xfrm>
            <a:off x="7178039" y="36576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True</a:t>
            </a:r>
            <a:endParaRPr lang="en-US" sz="1100"/>
          </a:p>
        </p:txBody>
      </p:sp>
      <p:sp>
        <p:nvSpPr>
          <p:cNvPr id="2081705695" name="Shape 75"/>
          <p:cNvSpPr/>
          <p:nvPr/>
        </p:nvSpPr>
        <p:spPr bwMode="auto">
          <a:xfrm>
            <a:off x="274320" y="3986784"/>
            <a:ext cx="219456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5011593" name="Text 76"/>
          <p:cNvSpPr/>
          <p:nvPr/>
        </p:nvSpPr>
        <p:spPr bwMode="auto">
          <a:xfrm>
            <a:off x="320040" y="40050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.join()</a:t>
            </a:r>
            <a:endParaRPr lang="en-US" sz="1200"/>
          </a:p>
        </p:txBody>
      </p:sp>
      <p:sp>
        <p:nvSpPr>
          <p:cNvPr id="330738546" name="Shape 77"/>
          <p:cNvSpPr/>
          <p:nvPr/>
        </p:nvSpPr>
        <p:spPr bwMode="auto">
          <a:xfrm>
            <a:off x="2560320" y="3986784"/>
            <a:ext cx="146304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90686303" name="Text 78"/>
          <p:cNvSpPr/>
          <p:nvPr/>
        </p:nvSpPr>
        <p:spPr bwMode="auto">
          <a:xfrm>
            <a:off x="2606040" y="4005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HA</a:t>
            </a:r>
            <a:endParaRPr lang="en-US" sz="1100"/>
          </a:p>
        </p:txBody>
      </p:sp>
      <p:sp>
        <p:nvSpPr>
          <p:cNvPr id="760853892" name="Shape 79"/>
          <p:cNvSpPr/>
          <p:nvPr/>
        </p:nvSpPr>
        <p:spPr bwMode="auto">
          <a:xfrm>
            <a:off x="4114800" y="3986784"/>
            <a:ext cx="292608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69763310" name="Text 80"/>
          <p:cNvSpPr/>
          <p:nvPr/>
        </p:nvSpPr>
        <p:spPr bwMode="auto">
          <a:xfrm>
            <a:off x="4160519" y="40050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"-".join(["a","b"])</a:t>
            </a:r>
            <a:endParaRPr lang="en-US" sz="1100"/>
          </a:p>
        </p:txBody>
      </p:sp>
      <p:sp>
        <p:nvSpPr>
          <p:cNvPr id="2048286380" name="Shape 81"/>
          <p:cNvSpPr/>
          <p:nvPr/>
        </p:nvSpPr>
        <p:spPr bwMode="auto">
          <a:xfrm>
            <a:off x="7132320" y="3986784"/>
            <a:ext cx="1828800" cy="329184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09992005" name="Text 82"/>
          <p:cNvSpPr/>
          <p:nvPr/>
        </p:nvSpPr>
        <p:spPr bwMode="auto">
          <a:xfrm>
            <a:off x="7178039" y="40050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"a-b"</a:t>
            </a:r>
            <a:endParaRPr lang="en-US" sz="1100"/>
          </a:p>
        </p:txBody>
      </p:sp>
      <p:sp>
        <p:nvSpPr>
          <p:cNvPr id="2096367228" name="Shape 83"/>
          <p:cNvSpPr/>
          <p:nvPr/>
        </p:nvSpPr>
        <p:spPr bwMode="auto">
          <a:xfrm>
            <a:off x="274320" y="4334256"/>
            <a:ext cx="219456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29876598" name="Text 84"/>
          <p:cNvSpPr/>
          <p:nvPr/>
        </p:nvSpPr>
        <p:spPr bwMode="auto">
          <a:xfrm>
            <a:off x="320040" y="43525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.format()</a:t>
            </a:r>
            <a:endParaRPr lang="en-US" sz="1200"/>
          </a:p>
        </p:txBody>
      </p:sp>
      <p:sp>
        <p:nvSpPr>
          <p:cNvPr id="1393588575" name="Shape 85"/>
          <p:cNvSpPr/>
          <p:nvPr/>
        </p:nvSpPr>
        <p:spPr bwMode="auto">
          <a:xfrm>
            <a:off x="2560320" y="4334256"/>
            <a:ext cx="146304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52319326" name="Text 86"/>
          <p:cNvSpPr/>
          <p:nvPr/>
        </p:nvSpPr>
        <p:spPr bwMode="auto">
          <a:xfrm>
            <a:off x="2606040" y="43525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HA</a:t>
            </a:r>
            <a:endParaRPr lang="en-US" sz="1100"/>
          </a:p>
        </p:txBody>
      </p:sp>
      <p:sp>
        <p:nvSpPr>
          <p:cNvPr id="1762365830" name="Shape 87"/>
          <p:cNvSpPr/>
          <p:nvPr/>
        </p:nvSpPr>
        <p:spPr bwMode="auto">
          <a:xfrm>
            <a:off x="4114800" y="4334256"/>
            <a:ext cx="292608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991831" name="Text 88"/>
          <p:cNvSpPr/>
          <p:nvPr/>
        </p:nvSpPr>
        <p:spPr bwMode="auto">
          <a:xfrm>
            <a:off x="4160519" y="435254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"Hi {}".format("Ali")</a:t>
            </a:r>
            <a:endParaRPr lang="en-US" sz="1100"/>
          </a:p>
        </p:txBody>
      </p:sp>
      <p:sp>
        <p:nvSpPr>
          <p:cNvPr id="1452586048" name="Shape 89"/>
          <p:cNvSpPr/>
          <p:nvPr/>
        </p:nvSpPr>
        <p:spPr bwMode="auto">
          <a:xfrm>
            <a:off x="7132320" y="4334256"/>
            <a:ext cx="1828800" cy="329184"/>
          </a:xfrm>
          <a:prstGeom prst="rect">
            <a:avLst/>
          </a:prstGeom>
          <a:solidFill>
            <a:srgbClr val="09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813350" name="Text 90"/>
          <p:cNvSpPr/>
          <p:nvPr/>
        </p:nvSpPr>
        <p:spPr bwMode="auto">
          <a:xfrm>
            <a:off x="7178039" y="43525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"Hi Ali"</a:t>
            </a:r>
            <a:endParaRPr lang="en-US" sz="1100"/>
          </a:p>
        </p:txBody>
      </p:sp>
      <p:sp>
        <p:nvSpPr>
          <p:cNvPr id="1420344239" name="Text 91"/>
          <p:cNvSpPr/>
          <p:nvPr/>
        </p:nvSpPr>
        <p:spPr bwMode="auto"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* String methodlari HECH QACHON qiymat qaytarmaslikni amalga oshirmaydi — barchasi yangi string qaytaradi!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812581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57629050" name="Text 1"/>
          <p:cNvSpPr/>
          <p:nvPr/>
        </p:nvSpPr>
        <p:spPr bwMode="auto"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📋  List Methods</a:t>
            </a:r>
            <a:endParaRPr lang="en-US" sz="3400"/>
          </a:p>
        </p:txBody>
      </p:sp>
      <p:sp>
        <p:nvSpPr>
          <p:cNvPr id="801069226" name="Shape 2"/>
          <p:cNvSpPr/>
          <p:nvPr/>
        </p:nvSpPr>
        <p:spPr bwMode="auto">
          <a:xfrm>
            <a:off x="274320" y="749808"/>
            <a:ext cx="859536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32367693" name="Shape 3"/>
          <p:cNvSpPr/>
          <p:nvPr/>
        </p:nvSpPr>
        <p:spPr bwMode="auto">
          <a:xfrm>
            <a:off x="274320" y="822960"/>
            <a:ext cx="4114800" cy="347472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74820248" name="Text 4"/>
          <p:cNvSpPr/>
          <p:nvPr/>
        </p:nvSpPr>
        <p:spPr bwMode="auto">
          <a:xfrm>
            <a:off x="320040" y="84124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 Qiymat QAYTARADIGAN methodlar</a:t>
            </a:r>
            <a:endParaRPr lang="en-US" sz="1200"/>
          </a:p>
        </p:txBody>
      </p:sp>
      <p:sp>
        <p:nvSpPr>
          <p:cNvPr id="239769055" name="Shape 5"/>
          <p:cNvSpPr/>
          <p:nvPr/>
        </p:nvSpPr>
        <p:spPr bwMode="auto">
          <a:xfrm>
            <a:off x="274320" y="1207008"/>
            <a:ext cx="4114800" cy="594360"/>
          </a:xfrm>
          <a:prstGeom prst="rect">
            <a:avLst/>
          </a:prstGeom>
          <a:solidFill>
            <a:srgbClr val="0A2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00323834" name="Text 6"/>
          <p:cNvSpPr/>
          <p:nvPr/>
        </p:nvSpPr>
        <p:spPr bwMode="auto">
          <a:xfrm>
            <a:off x="411480" y="1234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.copy()</a:t>
            </a:r>
            <a:endParaRPr lang="en-US" sz="1300"/>
          </a:p>
        </p:txBody>
      </p:sp>
      <p:sp>
        <p:nvSpPr>
          <p:cNvPr id="1069075670" name="Text 7"/>
          <p:cNvSpPr/>
          <p:nvPr/>
        </p:nvSpPr>
        <p:spPr bwMode="auto">
          <a:xfrm>
            <a:off x="411480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→ Yangi list</a:t>
            </a:r>
            <a:endParaRPr lang="en-US" sz="1100"/>
          </a:p>
        </p:txBody>
      </p:sp>
      <p:sp>
        <p:nvSpPr>
          <p:cNvPr id="972543567" name="Text 8"/>
          <p:cNvSpPr/>
          <p:nvPr/>
        </p:nvSpPr>
        <p:spPr bwMode="auto">
          <a:xfrm>
            <a:off x="2468880" y="1371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lst.copy()</a:t>
            </a:r>
            <a:endParaRPr lang="en-US" sz="1100"/>
          </a:p>
        </p:txBody>
      </p:sp>
      <p:sp>
        <p:nvSpPr>
          <p:cNvPr id="538428548" name="Shape 9"/>
          <p:cNvSpPr/>
          <p:nvPr/>
        </p:nvSpPr>
        <p:spPr bwMode="auto">
          <a:xfrm>
            <a:off x="274320" y="1847088"/>
            <a:ext cx="4114800" cy="594360"/>
          </a:xfrm>
          <a:prstGeom prst="rect">
            <a:avLst/>
          </a:prstGeom>
          <a:solidFill>
            <a:srgbClr val="0A2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4119696" name="Text 10"/>
          <p:cNvSpPr/>
          <p:nvPr/>
        </p:nvSpPr>
        <p:spPr bwMode="auto">
          <a:xfrm>
            <a:off x="411480" y="1874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.count(val)</a:t>
            </a:r>
            <a:endParaRPr lang="en-US" sz="1300"/>
          </a:p>
        </p:txBody>
      </p:sp>
      <p:sp>
        <p:nvSpPr>
          <p:cNvPr id="2096657198" name="Text 11"/>
          <p:cNvSpPr/>
          <p:nvPr/>
        </p:nvSpPr>
        <p:spPr bwMode="auto">
          <a:xfrm>
            <a:off x="411480" y="21214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→ 2  (int)</a:t>
            </a:r>
            <a:endParaRPr lang="en-US" sz="1100"/>
          </a:p>
        </p:txBody>
      </p:sp>
      <p:sp>
        <p:nvSpPr>
          <p:cNvPr id="1369118585" name="Text 12"/>
          <p:cNvSpPr/>
          <p:nvPr/>
        </p:nvSpPr>
        <p:spPr bwMode="auto">
          <a:xfrm>
            <a:off x="2468880" y="20116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[1,1,2].count(1)</a:t>
            </a:r>
            <a:endParaRPr lang="en-US" sz="1100"/>
          </a:p>
        </p:txBody>
      </p:sp>
      <p:sp>
        <p:nvSpPr>
          <p:cNvPr id="557446784" name="Shape 13"/>
          <p:cNvSpPr/>
          <p:nvPr/>
        </p:nvSpPr>
        <p:spPr bwMode="auto">
          <a:xfrm>
            <a:off x="274320" y="2487168"/>
            <a:ext cx="4114800" cy="594360"/>
          </a:xfrm>
          <a:prstGeom prst="rect">
            <a:avLst/>
          </a:prstGeom>
          <a:solidFill>
            <a:srgbClr val="0A2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93970925" name="Text 14"/>
          <p:cNvSpPr/>
          <p:nvPr/>
        </p:nvSpPr>
        <p:spPr bwMode="auto">
          <a:xfrm>
            <a:off x="411480" y="2514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.index(val)</a:t>
            </a:r>
            <a:endParaRPr lang="en-US" sz="1300"/>
          </a:p>
        </p:txBody>
      </p:sp>
      <p:sp>
        <p:nvSpPr>
          <p:cNvPr id="1364596418" name="Text 15"/>
          <p:cNvSpPr/>
          <p:nvPr/>
        </p:nvSpPr>
        <p:spPr bwMode="auto">
          <a:xfrm>
            <a:off x="411480" y="2761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→ 1  (int)</a:t>
            </a:r>
            <a:endParaRPr lang="en-US" sz="1100"/>
          </a:p>
        </p:txBody>
      </p:sp>
      <p:sp>
        <p:nvSpPr>
          <p:cNvPr id="873061056" name="Text 16"/>
          <p:cNvSpPr/>
          <p:nvPr/>
        </p:nvSpPr>
        <p:spPr bwMode="auto">
          <a:xfrm>
            <a:off x="2468880" y="2651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[3,5,7].index(5)</a:t>
            </a:r>
            <a:endParaRPr lang="en-US" sz="1100"/>
          </a:p>
        </p:txBody>
      </p:sp>
      <p:sp>
        <p:nvSpPr>
          <p:cNvPr id="1491390201" name="Shape 17"/>
          <p:cNvSpPr/>
          <p:nvPr/>
        </p:nvSpPr>
        <p:spPr bwMode="auto">
          <a:xfrm>
            <a:off x="274320" y="3127248"/>
            <a:ext cx="4114800" cy="594360"/>
          </a:xfrm>
          <a:prstGeom prst="rect">
            <a:avLst/>
          </a:prstGeom>
          <a:solidFill>
            <a:srgbClr val="0A2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67235024" name="Text 18"/>
          <p:cNvSpPr/>
          <p:nvPr/>
        </p:nvSpPr>
        <p:spPr bwMode="auto">
          <a:xfrm>
            <a:off x="411480" y="3154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.pop()</a:t>
            </a:r>
            <a:endParaRPr lang="en-US" sz="1300"/>
          </a:p>
        </p:txBody>
      </p:sp>
      <p:sp>
        <p:nvSpPr>
          <p:cNvPr id="1261303285" name="Text 19"/>
          <p:cNvSpPr/>
          <p:nvPr/>
        </p:nvSpPr>
        <p:spPr bwMode="auto">
          <a:xfrm>
            <a:off x="411480" y="3401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→ 3  (element)</a:t>
            </a:r>
            <a:endParaRPr lang="en-US" sz="1100"/>
          </a:p>
        </p:txBody>
      </p:sp>
      <p:sp>
        <p:nvSpPr>
          <p:cNvPr id="1421797386" name="Text 20"/>
          <p:cNvSpPr/>
          <p:nvPr/>
        </p:nvSpPr>
        <p:spPr bwMode="auto">
          <a:xfrm>
            <a:off x="2468880" y="3291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[1,2,3].pop()</a:t>
            </a:r>
            <a:endParaRPr lang="en-US" sz="1100"/>
          </a:p>
        </p:txBody>
      </p:sp>
      <p:sp>
        <p:nvSpPr>
          <p:cNvPr id="1091654047" name="Shape 21"/>
          <p:cNvSpPr/>
          <p:nvPr/>
        </p:nvSpPr>
        <p:spPr bwMode="auto">
          <a:xfrm>
            <a:off x="4754880" y="822960"/>
            <a:ext cx="4114800" cy="347472"/>
          </a:xfrm>
          <a:prstGeom prst="rect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8158922" name="Text 22"/>
          <p:cNvSpPr/>
          <p:nvPr/>
        </p:nvSpPr>
        <p:spPr bwMode="auto">
          <a:xfrm>
            <a:off x="4800600" y="84124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3F5E"/>
                </a:solidFill>
                <a:latin typeface="Calibri"/>
                <a:ea typeface="Calibri"/>
                <a:cs typeface="Calibri"/>
              </a:rPr>
              <a:t>❌  Qiymat QAYTARMAYDIGAN methodlar</a:t>
            </a:r>
            <a:endParaRPr lang="en-US" sz="1200"/>
          </a:p>
        </p:txBody>
      </p:sp>
      <p:sp>
        <p:nvSpPr>
          <p:cNvPr id="366615381" name="Shape 23"/>
          <p:cNvSpPr/>
          <p:nvPr/>
        </p:nvSpPr>
        <p:spPr bwMode="auto">
          <a:xfrm>
            <a:off x="4754880" y="1207008"/>
            <a:ext cx="4114800" cy="438912"/>
          </a:xfrm>
          <a:prstGeom prst="rect">
            <a:avLst/>
          </a:prstGeom>
          <a:solidFill>
            <a:srgbClr val="2E0F1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16240562" name="Text 24"/>
          <p:cNvSpPr/>
          <p:nvPr/>
        </p:nvSpPr>
        <p:spPr bwMode="auto">
          <a:xfrm>
            <a:off x="4892039" y="12344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onsolas"/>
                <a:ea typeface="Consolas"/>
                <a:cs typeface="Consolas"/>
              </a:rPr>
              <a:t>.append(val)</a:t>
            </a:r>
            <a:endParaRPr lang="en-US" sz="1200"/>
          </a:p>
        </p:txBody>
      </p:sp>
      <p:sp>
        <p:nvSpPr>
          <p:cNvPr id="1061691499" name="Text 25"/>
          <p:cNvSpPr/>
          <p:nvPr/>
        </p:nvSpPr>
        <p:spPr bwMode="auto">
          <a:xfrm>
            <a:off x="4892039" y="14264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3F5E"/>
                </a:solidFill>
                <a:latin typeface="Calibri"/>
                <a:ea typeface="Calibri"/>
                <a:cs typeface="Calibri"/>
              </a:rPr>
              <a:t>→ None qaytaradi</a:t>
            </a:r>
            <a:endParaRPr lang="en-US" sz="1100"/>
          </a:p>
        </p:txBody>
      </p:sp>
      <p:sp>
        <p:nvSpPr>
          <p:cNvPr id="1001054658" name="Text 26"/>
          <p:cNvSpPr/>
          <p:nvPr/>
        </p:nvSpPr>
        <p:spPr bwMode="auto">
          <a:xfrm>
            <a:off x="6949440" y="13167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lst.append(5)</a:t>
            </a:r>
            <a:endParaRPr lang="en-US" sz="1000"/>
          </a:p>
        </p:txBody>
      </p:sp>
      <p:sp>
        <p:nvSpPr>
          <p:cNvPr id="923655844" name="Shape 27"/>
          <p:cNvSpPr/>
          <p:nvPr/>
        </p:nvSpPr>
        <p:spPr bwMode="auto">
          <a:xfrm>
            <a:off x="4754880" y="1682496"/>
            <a:ext cx="4114800" cy="438912"/>
          </a:xfrm>
          <a:prstGeom prst="rect">
            <a:avLst/>
          </a:prstGeom>
          <a:solidFill>
            <a:srgbClr val="2E0F1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63327405" name="Text 28"/>
          <p:cNvSpPr/>
          <p:nvPr/>
        </p:nvSpPr>
        <p:spPr bwMode="auto">
          <a:xfrm>
            <a:off x="4892039" y="170992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onsolas"/>
                <a:ea typeface="Consolas"/>
                <a:cs typeface="Consolas"/>
              </a:rPr>
              <a:t>.extend(iter)</a:t>
            </a:r>
            <a:endParaRPr lang="en-US" sz="1200"/>
          </a:p>
        </p:txBody>
      </p:sp>
      <p:sp>
        <p:nvSpPr>
          <p:cNvPr id="369973241" name="Text 29"/>
          <p:cNvSpPr/>
          <p:nvPr/>
        </p:nvSpPr>
        <p:spPr bwMode="auto">
          <a:xfrm>
            <a:off x="4892039" y="19019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3F5E"/>
                </a:solidFill>
                <a:latin typeface="Calibri"/>
                <a:ea typeface="Calibri"/>
                <a:cs typeface="Calibri"/>
              </a:rPr>
              <a:t>→ None qaytaradi</a:t>
            </a:r>
            <a:endParaRPr lang="en-US" sz="1100"/>
          </a:p>
        </p:txBody>
      </p:sp>
      <p:sp>
        <p:nvSpPr>
          <p:cNvPr id="529359732" name="Text 30"/>
          <p:cNvSpPr/>
          <p:nvPr/>
        </p:nvSpPr>
        <p:spPr bwMode="auto">
          <a:xfrm>
            <a:off x="6949440" y="17922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lst.extend([1,2])</a:t>
            </a:r>
            <a:endParaRPr lang="en-US" sz="1000"/>
          </a:p>
        </p:txBody>
      </p:sp>
      <p:sp>
        <p:nvSpPr>
          <p:cNvPr id="1022038454" name="Shape 31"/>
          <p:cNvSpPr/>
          <p:nvPr/>
        </p:nvSpPr>
        <p:spPr bwMode="auto">
          <a:xfrm>
            <a:off x="4754880" y="2157984"/>
            <a:ext cx="4114800" cy="438912"/>
          </a:xfrm>
          <a:prstGeom prst="rect">
            <a:avLst/>
          </a:prstGeom>
          <a:solidFill>
            <a:srgbClr val="2E0F1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51853851" name="Text 32"/>
          <p:cNvSpPr/>
          <p:nvPr/>
        </p:nvSpPr>
        <p:spPr bwMode="auto">
          <a:xfrm>
            <a:off x="4892039" y="218541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onsolas"/>
                <a:ea typeface="Consolas"/>
                <a:cs typeface="Consolas"/>
              </a:rPr>
              <a:t>.insert(i,v)</a:t>
            </a:r>
            <a:endParaRPr lang="en-US" sz="1200"/>
          </a:p>
        </p:txBody>
      </p:sp>
      <p:sp>
        <p:nvSpPr>
          <p:cNvPr id="624056741" name="Text 33"/>
          <p:cNvSpPr/>
          <p:nvPr/>
        </p:nvSpPr>
        <p:spPr bwMode="auto">
          <a:xfrm>
            <a:off x="4892039" y="23774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3F5E"/>
                </a:solidFill>
                <a:latin typeface="Calibri"/>
                <a:ea typeface="Calibri"/>
                <a:cs typeface="Calibri"/>
              </a:rPr>
              <a:t>→ None qaytaradi</a:t>
            </a:r>
            <a:endParaRPr lang="en-US" sz="1100"/>
          </a:p>
        </p:txBody>
      </p:sp>
      <p:sp>
        <p:nvSpPr>
          <p:cNvPr id="1381960439" name="Text 34"/>
          <p:cNvSpPr/>
          <p:nvPr/>
        </p:nvSpPr>
        <p:spPr bwMode="auto">
          <a:xfrm>
            <a:off x="6949440" y="22677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lst.insert(0, 9)</a:t>
            </a:r>
            <a:endParaRPr lang="en-US" sz="1000"/>
          </a:p>
        </p:txBody>
      </p:sp>
      <p:sp>
        <p:nvSpPr>
          <p:cNvPr id="1804377211" name="Shape 35"/>
          <p:cNvSpPr/>
          <p:nvPr/>
        </p:nvSpPr>
        <p:spPr bwMode="auto">
          <a:xfrm>
            <a:off x="4754880" y="2633472"/>
            <a:ext cx="4114800" cy="438912"/>
          </a:xfrm>
          <a:prstGeom prst="rect">
            <a:avLst/>
          </a:prstGeom>
          <a:solidFill>
            <a:srgbClr val="2E0F1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15630595" name="Text 36"/>
          <p:cNvSpPr/>
          <p:nvPr/>
        </p:nvSpPr>
        <p:spPr bwMode="auto">
          <a:xfrm>
            <a:off x="4892039" y="266090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onsolas"/>
                <a:ea typeface="Consolas"/>
                <a:cs typeface="Consolas"/>
              </a:rPr>
              <a:t>.remove(val)</a:t>
            </a:r>
            <a:endParaRPr lang="en-US" sz="1200"/>
          </a:p>
        </p:txBody>
      </p:sp>
      <p:sp>
        <p:nvSpPr>
          <p:cNvPr id="2130134237" name="Text 37"/>
          <p:cNvSpPr/>
          <p:nvPr/>
        </p:nvSpPr>
        <p:spPr bwMode="auto">
          <a:xfrm>
            <a:off x="4892039" y="28529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3F5E"/>
                </a:solidFill>
                <a:latin typeface="Calibri"/>
                <a:ea typeface="Calibri"/>
                <a:cs typeface="Calibri"/>
              </a:rPr>
              <a:t>→ None qaytaradi</a:t>
            </a:r>
            <a:endParaRPr lang="en-US" sz="1100"/>
          </a:p>
        </p:txBody>
      </p:sp>
      <p:sp>
        <p:nvSpPr>
          <p:cNvPr id="1050439520" name="Text 38"/>
          <p:cNvSpPr/>
          <p:nvPr/>
        </p:nvSpPr>
        <p:spPr bwMode="auto">
          <a:xfrm>
            <a:off x="6949440" y="27432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lst.remove(3)</a:t>
            </a:r>
            <a:endParaRPr lang="en-US" sz="1000"/>
          </a:p>
        </p:txBody>
      </p:sp>
      <p:sp>
        <p:nvSpPr>
          <p:cNvPr id="1610465454" name="Shape 39"/>
          <p:cNvSpPr/>
          <p:nvPr/>
        </p:nvSpPr>
        <p:spPr bwMode="auto">
          <a:xfrm>
            <a:off x="4754880" y="3108960"/>
            <a:ext cx="4114800" cy="438912"/>
          </a:xfrm>
          <a:prstGeom prst="rect">
            <a:avLst/>
          </a:prstGeom>
          <a:solidFill>
            <a:srgbClr val="2E0F1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99352286" name="Text 40"/>
          <p:cNvSpPr/>
          <p:nvPr/>
        </p:nvSpPr>
        <p:spPr bwMode="auto">
          <a:xfrm>
            <a:off x="4892039" y="313639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onsolas"/>
                <a:ea typeface="Consolas"/>
                <a:cs typeface="Consolas"/>
              </a:rPr>
              <a:t>.sort()</a:t>
            </a:r>
            <a:endParaRPr lang="en-US" sz="1200"/>
          </a:p>
        </p:txBody>
      </p:sp>
      <p:sp>
        <p:nvSpPr>
          <p:cNvPr id="1378519170" name="Text 41"/>
          <p:cNvSpPr/>
          <p:nvPr/>
        </p:nvSpPr>
        <p:spPr bwMode="auto">
          <a:xfrm>
            <a:off x="4892039" y="33284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3F5E"/>
                </a:solidFill>
                <a:latin typeface="Calibri"/>
                <a:ea typeface="Calibri"/>
                <a:cs typeface="Calibri"/>
              </a:rPr>
              <a:t>→ None qaytaradi</a:t>
            </a:r>
            <a:endParaRPr lang="en-US" sz="1100"/>
          </a:p>
        </p:txBody>
      </p:sp>
      <p:sp>
        <p:nvSpPr>
          <p:cNvPr id="353384598" name="Text 42"/>
          <p:cNvSpPr/>
          <p:nvPr/>
        </p:nvSpPr>
        <p:spPr bwMode="auto">
          <a:xfrm>
            <a:off x="6949440" y="32186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lst.sort()</a:t>
            </a:r>
            <a:endParaRPr lang="en-US" sz="1000"/>
          </a:p>
        </p:txBody>
      </p:sp>
      <p:sp>
        <p:nvSpPr>
          <p:cNvPr id="62987560" name="Shape 43"/>
          <p:cNvSpPr/>
          <p:nvPr/>
        </p:nvSpPr>
        <p:spPr bwMode="auto">
          <a:xfrm>
            <a:off x="4754880" y="3584448"/>
            <a:ext cx="4114800" cy="438912"/>
          </a:xfrm>
          <a:prstGeom prst="rect">
            <a:avLst/>
          </a:prstGeom>
          <a:solidFill>
            <a:srgbClr val="2E0F1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11592054" name="Text 44"/>
          <p:cNvSpPr/>
          <p:nvPr/>
        </p:nvSpPr>
        <p:spPr bwMode="auto">
          <a:xfrm>
            <a:off x="4892039" y="36118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onsolas"/>
                <a:ea typeface="Consolas"/>
                <a:cs typeface="Consolas"/>
              </a:rPr>
              <a:t>.reverse()</a:t>
            </a:r>
            <a:endParaRPr lang="en-US" sz="1200"/>
          </a:p>
        </p:txBody>
      </p:sp>
      <p:sp>
        <p:nvSpPr>
          <p:cNvPr id="549859686" name="Text 45"/>
          <p:cNvSpPr/>
          <p:nvPr/>
        </p:nvSpPr>
        <p:spPr bwMode="auto">
          <a:xfrm>
            <a:off x="4892039" y="38039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3F5E"/>
                </a:solidFill>
                <a:latin typeface="Calibri"/>
                <a:ea typeface="Calibri"/>
                <a:cs typeface="Calibri"/>
              </a:rPr>
              <a:t>→ None qaytaradi</a:t>
            </a:r>
            <a:endParaRPr lang="en-US" sz="1100"/>
          </a:p>
        </p:txBody>
      </p:sp>
      <p:sp>
        <p:nvSpPr>
          <p:cNvPr id="1596085685" name="Text 46"/>
          <p:cNvSpPr/>
          <p:nvPr/>
        </p:nvSpPr>
        <p:spPr bwMode="auto">
          <a:xfrm>
            <a:off x="6949440" y="36941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lst.reverse()</a:t>
            </a:r>
            <a:endParaRPr lang="en-US" sz="1000"/>
          </a:p>
        </p:txBody>
      </p:sp>
      <p:sp>
        <p:nvSpPr>
          <p:cNvPr id="1922220508" name="Shape 47"/>
          <p:cNvSpPr/>
          <p:nvPr/>
        </p:nvSpPr>
        <p:spPr bwMode="auto">
          <a:xfrm>
            <a:off x="4754880" y="4059936"/>
            <a:ext cx="4114800" cy="438912"/>
          </a:xfrm>
          <a:prstGeom prst="rect">
            <a:avLst/>
          </a:prstGeom>
          <a:solidFill>
            <a:srgbClr val="2E0F1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5341241" name="Text 48"/>
          <p:cNvSpPr/>
          <p:nvPr/>
        </p:nvSpPr>
        <p:spPr bwMode="auto">
          <a:xfrm>
            <a:off x="4892039" y="40873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72B6"/>
                </a:solidFill>
                <a:latin typeface="Consolas"/>
                <a:ea typeface="Consolas"/>
                <a:cs typeface="Consolas"/>
              </a:rPr>
              <a:t>.clear()</a:t>
            </a:r>
            <a:endParaRPr lang="en-US" sz="1200"/>
          </a:p>
        </p:txBody>
      </p:sp>
      <p:sp>
        <p:nvSpPr>
          <p:cNvPr id="177707581" name="Text 49"/>
          <p:cNvSpPr/>
          <p:nvPr/>
        </p:nvSpPr>
        <p:spPr bwMode="auto">
          <a:xfrm>
            <a:off x="4892039" y="4279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3F5E"/>
                </a:solidFill>
                <a:latin typeface="Calibri"/>
                <a:ea typeface="Calibri"/>
                <a:cs typeface="Calibri"/>
              </a:rPr>
              <a:t>→ None qaytaradi</a:t>
            </a:r>
            <a:endParaRPr lang="en-US" sz="1100"/>
          </a:p>
        </p:txBody>
      </p:sp>
      <p:sp>
        <p:nvSpPr>
          <p:cNvPr id="449101736" name="Text 50"/>
          <p:cNvSpPr/>
          <p:nvPr/>
        </p:nvSpPr>
        <p:spPr bwMode="auto">
          <a:xfrm>
            <a:off x="6949440" y="416966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lst.clear()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995232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1430139" name="Text 1"/>
          <p:cNvSpPr/>
          <p:nvPr/>
        </p:nvSpPr>
        <p:spPr bwMode="auto"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📚  Dictionary  &amp;  🔵  Set Methods</a:t>
            </a:r>
            <a:endParaRPr lang="en-US" sz="3000"/>
          </a:p>
        </p:txBody>
      </p:sp>
      <p:sp>
        <p:nvSpPr>
          <p:cNvPr id="1112917266" name="Text 2"/>
          <p:cNvSpPr/>
          <p:nvPr/>
        </p:nvSpPr>
        <p:spPr bwMode="auto"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B923C"/>
                </a:solidFill>
                <a:latin typeface="Calibri"/>
                <a:ea typeface="Calibri"/>
                <a:cs typeface="Calibri"/>
              </a:rPr>
              <a:t>Dictionary Methods</a:t>
            </a:r>
            <a:endParaRPr lang="en-US" sz="1500"/>
          </a:p>
        </p:txBody>
      </p:sp>
      <p:sp>
        <p:nvSpPr>
          <p:cNvPr id="1658569596" name="Shape 3"/>
          <p:cNvSpPr/>
          <p:nvPr/>
        </p:nvSpPr>
        <p:spPr bwMode="auto">
          <a:xfrm>
            <a:off x="274320" y="1170432"/>
            <a:ext cx="4114800" cy="365760"/>
          </a:xfrm>
          <a:prstGeom prst="rect">
            <a:avLst/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734435364" name="Text 4"/>
          <p:cNvSpPr/>
          <p:nvPr/>
        </p:nvSpPr>
        <p:spPr bwMode="auto">
          <a:xfrm>
            <a:off x="365760" y="120700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✅  .keys()</a:t>
            </a:r>
            <a:endParaRPr lang="en-US" sz="1200"/>
          </a:p>
        </p:txBody>
      </p:sp>
      <p:sp>
        <p:nvSpPr>
          <p:cNvPr id="1832435203" name="Text 5"/>
          <p:cNvSpPr/>
          <p:nvPr/>
        </p:nvSpPr>
        <p:spPr bwMode="auto">
          <a:xfrm>
            <a:off x="2606040" y="12435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dict_keys ob'ekti qaytaradi</a:t>
            </a:r>
            <a:endParaRPr lang="en-US" sz="1000"/>
          </a:p>
        </p:txBody>
      </p:sp>
      <p:sp>
        <p:nvSpPr>
          <p:cNvPr id="825738449" name="Shape 6"/>
          <p:cNvSpPr/>
          <p:nvPr/>
        </p:nvSpPr>
        <p:spPr bwMode="auto">
          <a:xfrm>
            <a:off x="274320" y="1572768"/>
            <a:ext cx="4114800" cy="365760"/>
          </a:xfrm>
          <a:prstGeom prst="rect">
            <a:avLst/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940421059" name="Text 7"/>
          <p:cNvSpPr/>
          <p:nvPr/>
        </p:nvSpPr>
        <p:spPr bwMode="auto">
          <a:xfrm>
            <a:off x="365760" y="160934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✅  .values()</a:t>
            </a:r>
            <a:endParaRPr lang="en-US" sz="1200"/>
          </a:p>
        </p:txBody>
      </p:sp>
      <p:sp>
        <p:nvSpPr>
          <p:cNvPr id="1816365475" name="Text 8"/>
          <p:cNvSpPr/>
          <p:nvPr/>
        </p:nvSpPr>
        <p:spPr bwMode="auto">
          <a:xfrm>
            <a:off x="2606040" y="16459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dict_values ob'ekti qaytaradi</a:t>
            </a:r>
            <a:endParaRPr lang="en-US" sz="1000"/>
          </a:p>
        </p:txBody>
      </p:sp>
      <p:sp>
        <p:nvSpPr>
          <p:cNvPr id="37863775" name="Shape 9"/>
          <p:cNvSpPr/>
          <p:nvPr/>
        </p:nvSpPr>
        <p:spPr bwMode="auto">
          <a:xfrm>
            <a:off x="274320" y="1975104"/>
            <a:ext cx="4114800" cy="365760"/>
          </a:xfrm>
          <a:prstGeom prst="rect">
            <a:avLst/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198889721" name="Text 10"/>
          <p:cNvSpPr/>
          <p:nvPr/>
        </p:nvSpPr>
        <p:spPr bwMode="auto">
          <a:xfrm>
            <a:off x="365760" y="20116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✅  .items()</a:t>
            </a:r>
            <a:endParaRPr lang="en-US" sz="1200"/>
          </a:p>
        </p:txBody>
      </p:sp>
      <p:sp>
        <p:nvSpPr>
          <p:cNvPr id="951186049" name="Text 11"/>
          <p:cNvSpPr/>
          <p:nvPr/>
        </p:nvSpPr>
        <p:spPr bwMode="auto">
          <a:xfrm>
            <a:off x="2606040" y="20482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dict_items ob'ekti qaytaradi</a:t>
            </a:r>
            <a:endParaRPr lang="en-US" sz="1000"/>
          </a:p>
        </p:txBody>
      </p:sp>
      <p:sp>
        <p:nvSpPr>
          <p:cNvPr id="1007465514" name="Shape 12"/>
          <p:cNvSpPr/>
          <p:nvPr/>
        </p:nvSpPr>
        <p:spPr bwMode="auto">
          <a:xfrm>
            <a:off x="274320" y="2377440"/>
            <a:ext cx="4114800" cy="365760"/>
          </a:xfrm>
          <a:prstGeom prst="rect">
            <a:avLst/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380272462" name="Text 13"/>
          <p:cNvSpPr/>
          <p:nvPr/>
        </p:nvSpPr>
        <p:spPr bwMode="auto">
          <a:xfrm>
            <a:off x="365760" y="241401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✅  .get(key)</a:t>
            </a:r>
            <a:endParaRPr lang="en-US" sz="1200"/>
          </a:p>
        </p:txBody>
      </p:sp>
      <p:sp>
        <p:nvSpPr>
          <p:cNvPr id="1218143491" name="Text 14"/>
          <p:cNvSpPr/>
          <p:nvPr/>
        </p:nvSpPr>
        <p:spPr bwMode="auto">
          <a:xfrm>
            <a:off x="2606040" y="24505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Qiymat yoki None qaytaradi</a:t>
            </a:r>
            <a:endParaRPr lang="en-US" sz="1000"/>
          </a:p>
        </p:txBody>
      </p:sp>
      <p:sp>
        <p:nvSpPr>
          <p:cNvPr id="1633239206" name="Shape 15"/>
          <p:cNvSpPr/>
          <p:nvPr/>
        </p:nvSpPr>
        <p:spPr bwMode="auto">
          <a:xfrm>
            <a:off x="274320" y="2779776"/>
            <a:ext cx="4114800" cy="365760"/>
          </a:xfrm>
          <a:prstGeom prst="rect">
            <a:avLst/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94493868" name="Text 16"/>
          <p:cNvSpPr/>
          <p:nvPr/>
        </p:nvSpPr>
        <p:spPr bwMode="auto">
          <a:xfrm>
            <a:off x="365760" y="28163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✅  .copy()</a:t>
            </a:r>
            <a:endParaRPr lang="en-US" sz="1200"/>
          </a:p>
        </p:txBody>
      </p:sp>
      <p:sp>
        <p:nvSpPr>
          <p:cNvPr id="443617140" name="Text 17"/>
          <p:cNvSpPr/>
          <p:nvPr/>
        </p:nvSpPr>
        <p:spPr bwMode="auto">
          <a:xfrm>
            <a:off x="2606040" y="2852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Yangi dict nusxasi qaytaradi</a:t>
            </a:r>
            <a:endParaRPr lang="en-US" sz="1000"/>
          </a:p>
        </p:txBody>
      </p:sp>
      <p:sp>
        <p:nvSpPr>
          <p:cNvPr id="34400466" name="Shape 18"/>
          <p:cNvSpPr/>
          <p:nvPr/>
        </p:nvSpPr>
        <p:spPr bwMode="auto">
          <a:xfrm>
            <a:off x="274320" y="3182112"/>
            <a:ext cx="4114800" cy="365760"/>
          </a:xfrm>
          <a:prstGeom prst="rect">
            <a:avLst/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04648356" name="Text 19"/>
          <p:cNvSpPr/>
          <p:nvPr/>
        </p:nvSpPr>
        <p:spPr bwMode="auto">
          <a:xfrm>
            <a:off x="365760" y="32186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✅  .pop(key)</a:t>
            </a:r>
            <a:endParaRPr lang="en-US" sz="1200"/>
          </a:p>
        </p:txBody>
      </p:sp>
      <p:sp>
        <p:nvSpPr>
          <p:cNvPr id="220651822" name="Text 20"/>
          <p:cNvSpPr/>
          <p:nvPr/>
        </p:nvSpPr>
        <p:spPr bwMode="auto">
          <a:xfrm>
            <a:off x="2606040" y="3255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O'chirilgan qiymatni qaytaradi</a:t>
            </a:r>
            <a:endParaRPr lang="en-US" sz="1000"/>
          </a:p>
        </p:txBody>
      </p:sp>
      <p:sp>
        <p:nvSpPr>
          <p:cNvPr id="1036835322" name="Shape 21"/>
          <p:cNvSpPr/>
          <p:nvPr/>
        </p:nvSpPr>
        <p:spPr bwMode="auto">
          <a:xfrm>
            <a:off x="274320" y="3584448"/>
            <a:ext cx="4114800" cy="365760"/>
          </a:xfrm>
          <a:prstGeom prst="rect">
            <a:avLst/>
          </a:prstGeom>
          <a:solidFill>
            <a:srgbClr val="2E0F00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342384480" name="Text 22"/>
          <p:cNvSpPr/>
          <p:nvPr/>
        </p:nvSpPr>
        <p:spPr bwMode="auto">
          <a:xfrm>
            <a:off x="365760" y="36210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❌  .update(d)</a:t>
            </a:r>
            <a:endParaRPr lang="en-US" sz="1200"/>
          </a:p>
        </p:txBody>
      </p:sp>
      <p:sp>
        <p:nvSpPr>
          <p:cNvPr id="831916931" name="Text 23"/>
          <p:cNvSpPr/>
          <p:nvPr/>
        </p:nvSpPr>
        <p:spPr bwMode="auto">
          <a:xfrm>
            <a:off x="2606040" y="3657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None — dict-ni o'zgartiradi</a:t>
            </a:r>
            <a:endParaRPr lang="en-US" sz="1000"/>
          </a:p>
        </p:txBody>
      </p:sp>
      <p:sp>
        <p:nvSpPr>
          <p:cNvPr id="2081997719" name="Shape 24"/>
          <p:cNvSpPr/>
          <p:nvPr/>
        </p:nvSpPr>
        <p:spPr bwMode="auto">
          <a:xfrm>
            <a:off x="274320" y="3986784"/>
            <a:ext cx="4114800" cy="365760"/>
          </a:xfrm>
          <a:prstGeom prst="rect">
            <a:avLst/>
          </a:prstGeom>
          <a:solidFill>
            <a:srgbClr val="2E0F00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454137542" name="Text 25"/>
          <p:cNvSpPr/>
          <p:nvPr/>
        </p:nvSpPr>
        <p:spPr bwMode="auto">
          <a:xfrm>
            <a:off x="365760" y="40233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❌  .clear()</a:t>
            </a:r>
            <a:endParaRPr lang="en-US" sz="1200"/>
          </a:p>
        </p:txBody>
      </p:sp>
      <p:sp>
        <p:nvSpPr>
          <p:cNvPr id="700295283" name="Text 26"/>
          <p:cNvSpPr/>
          <p:nvPr/>
        </p:nvSpPr>
        <p:spPr bwMode="auto">
          <a:xfrm>
            <a:off x="2606040" y="40599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None — dict-ni tozalaydi</a:t>
            </a:r>
            <a:endParaRPr lang="en-US" sz="1000"/>
          </a:p>
        </p:txBody>
      </p:sp>
      <p:sp>
        <p:nvSpPr>
          <p:cNvPr id="1010656517" name="Shape 27"/>
          <p:cNvSpPr/>
          <p:nvPr/>
        </p:nvSpPr>
        <p:spPr bwMode="auto">
          <a:xfrm>
            <a:off x="274320" y="4389120"/>
            <a:ext cx="4114800" cy="365760"/>
          </a:xfrm>
          <a:prstGeom prst="rect">
            <a:avLst/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022586051" name="Text 28"/>
          <p:cNvSpPr/>
          <p:nvPr/>
        </p:nvSpPr>
        <p:spPr bwMode="auto">
          <a:xfrm>
            <a:off x="365760" y="44256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✅  .setdefault()</a:t>
            </a:r>
            <a:endParaRPr lang="en-US" sz="1200"/>
          </a:p>
        </p:txBody>
      </p:sp>
      <p:sp>
        <p:nvSpPr>
          <p:cNvPr id="610270534" name="Text 29"/>
          <p:cNvSpPr/>
          <p:nvPr/>
        </p:nvSpPr>
        <p:spPr bwMode="auto">
          <a:xfrm>
            <a:off x="2606040" y="44622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Qiymatni qaytaradi/qo'shadi</a:t>
            </a:r>
            <a:endParaRPr lang="en-US" sz="1000"/>
          </a:p>
        </p:txBody>
      </p:sp>
      <p:sp>
        <p:nvSpPr>
          <p:cNvPr id="1628019080" name="Text 30"/>
          <p:cNvSpPr/>
          <p:nvPr/>
        </p:nvSpPr>
        <p:spPr bwMode="auto">
          <a:xfrm>
            <a:off x="475488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Set Methods</a:t>
            </a:r>
            <a:endParaRPr lang="en-US" sz="1500"/>
          </a:p>
        </p:txBody>
      </p:sp>
      <p:sp>
        <p:nvSpPr>
          <p:cNvPr id="1798383457" name="Shape 31"/>
          <p:cNvSpPr/>
          <p:nvPr/>
        </p:nvSpPr>
        <p:spPr bwMode="auto">
          <a:xfrm>
            <a:off x="4754880" y="1170432"/>
            <a:ext cx="4114800" cy="365760"/>
          </a:xfrm>
          <a:prstGeom prst="rect">
            <a:avLst/>
          </a:prstGeom>
          <a:solidFill>
            <a:srgbClr val="2E0F0F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997938992" name="Text 32"/>
          <p:cNvSpPr/>
          <p:nvPr/>
        </p:nvSpPr>
        <p:spPr bwMode="auto">
          <a:xfrm>
            <a:off x="4846320" y="12070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❌  .add(val)</a:t>
            </a:r>
            <a:endParaRPr lang="en-US" sz="1200"/>
          </a:p>
        </p:txBody>
      </p:sp>
      <p:sp>
        <p:nvSpPr>
          <p:cNvPr id="718912259" name="Text 33"/>
          <p:cNvSpPr/>
          <p:nvPr/>
        </p:nvSpPr>
        <p:spPr bwMode="auto">
          <a:xfrm>
            <a:off x="7086600" y="124358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None — element qo'shadi</a:t>
            </a:r>
            <a:endParaRPr lang="en-US" sz="1000"/>
          </a:p>
        </p:txBody>
      </p:sp>
      <p:sp>
        <p:nvSpPr>
          <p:cNvPr id="1204055809" name="Shape 34"/>
          <p:cNvSpPr/>
          <p:nvPr/>
        </p:nvSpPr>
        <p:spPr bwMode="auto">
          <a:xfrm>
            <a:off x="4754880" y="1572768"/>
            <a:ext cx="4114800" cy="365760"/>
          </a:xfrm>
          <a:prstGeom prst="rect">
            <a:avLst/>
          </a:prstGeom>
          <a:solidFill>
            <a:srgbClr val="2E0F0F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824183411" name="Text 35"/>
          <p:cNvSpPr/>
          <p:nvPr/>
        </p:nvSpPr>
        <p:spPr bwMode="auto">
          <a:xfrm>
            <a:off x="4846320" y="16093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❌  .remove(v)</a:t>
            </a:r>
            <a:endParaRPr lang="en-US" sz="1200"/>
          </a:p>
        </p:txBody>
      </p:sp>
      <p:sp>
        <p:nvSpPr>
          <p:cNvPr id="1949045968" name="Text 36"/>
          <p:cNvSpPr/>
          <p:nvPr/>
        </p:nvSpPr>
        <p:spPr bwMode="auto">
          <a:xfrm>
            <a:off x="7086600" y="1645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None — o'chiradi (xato beradi)</a:t>
            </a:r>
            <a:endParaRPr lang="en-US" sz="1000"/>
          </a:p>
        </p:txBody>
      </p:sp>
      <p:sp>
        <p:nvSpPr>
          <p:cNvPr id="760550495" name="Shape 37"/>
          <p:cNvSpPr/>
          <p:nvPr/>
        </p:nvSpPr>
        <p:spPr bwMode="auto">
          <a:xfrm>
            <a:off x="4754880" y="1975104"/>
            <a:ext cx="4114800" cy="365760"/>
          </a:xfrm>
          <a:prstGeom prst="rect">
            <a:avLst/>
          </a:prstGeom>
          <a:solidFill>
            <a:srgbClr val="2E0F0F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448107870" name="Text 38"/>
          <p:cNvSpPr/>
          <p:nvPr/>
        </p:nvSpPr>
        <p:spPr bwMode="auto">
          <a:xfrm>
            <a:off x="4846320" y="20116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❌  .discard(v)</a:t>
            </a:r>
            <a:endParaRPr lang="en-US" sz="1200"/>
          </a:p>
        </p:txBody>
      </p:sp>
      <p:sp>
        <p:nvSpPr>
          <p:cNvPr id="1770461541" name="Text 39"/>
          <p:cNvSpPr/>
          <p:nvPr/>
        </p:nvSpPr>
        <p:spPr bwMode="auto">
          <a:xfrm>
            <a:off x="7086600" y="204825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None — o'chiradi (xato yo'q)</a:t>
            </a:r>
            <a:endParaRPr lang="en-US" sz="1000"/>
          </a:p>
        </p:txBody>
      </p:sp>
      <p:sp>
        <p:nvSpPr>
          <p:cNvPr id="451138735" name="Shape 40"/>
          <p:cNvSpPr/>
          <p:nvPr/>
        </p:nvSpPr>
        <p:spPr bwMode="auto">
          <a:xfrm>
            <a:off x="4754880" y="2377440"/>
            <a:ext cx="4114800" cy="365760"/>
          </a:xfrm>
          <a:prstGeom prst="rect">
            <a:avLst/>
          </a:prstGeom>
          <a:solidFill>
            <a:srgbClr val="0A1E2E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231292840" name="Text 41"/>
          <p:cNvSpPr/>
          <p:nvPr/>
        </p:nvSpPr>
        <p:spPr bwMode="auto">
          <a:xfrm>
            <a:off x="4846320" y="24140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✅  .pop()</a:t>
            </a:r>
            <a:endParaRPr lang="en-US" sz="1200"/>
          </a:p>
        </p:txBody>
      </p:sp>
      <p:sp>
        <p:nvSpPr>
          <p:cNvPr id="1140134473" name="Text 42"/>
          <p:cNvSpPr/>
          <p:nvPr/>
        </p:nvSpPr>
        <p:spPr bwMode="auto">
          <a:xfrm>
            <a:off x="7086600" y="24505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Tasodifiy elementni qaytaradi</a:t>
            </a:r>
            <a:endParaRPr lang="en-US" sz="1000"/>
          </a:p>
        </p:txBody>
      </p:sp>
      <p:sp>
        <p:nvSpPr>
          <p:cNvPr id="104504272" name="Shape 43"/>
          <p:cNvSpPr/>
          <p:nvPr/>
        </p:nvSpPr>
        <p:spPr bwMode="auto">
          <a:xfrm>
            <a:off x="4754880" y="2779776"/>
            <a:ext cx="4114800" cy="365760"/>
          </a:xfrm>
          <a:prstGeom prst="rect">
            <a:avLst/>
          </a:prstGeom>
          <a:solidFill>
            <a:srgbClr val="2E0F0F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733767669" name="Text 44"/>
          <p:cNvSpPr/>
          <p:nvPr/>
        </p:nvSpPr>
        <p:spPr bwMode="auto">
          <a:xfrm>
            <a:off x="4846320" y="28163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❌  .clear()</a:t>
            </a:r>
            <a:endParaRPr lang="en-US" sz="1200"/>
          </a:p>
        </p:txBody>
      </p:sp>
      <p:sp>
        <p:nvSpPr>
          <p:cNvPr id="783930429" name="Text 45"/>
          <p:cNvSpPr/>
          <p:nvPr/>
        </p:nvSpPr>
        <p:spPr bwMode="auto">
          <a:xfrm>
            <a:off x="7086600" y="28529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None — set-ni tozalaydi</a:t>
            </a:r>
            <a:endParaRPr lang="en-US" sz="1000"/>
          </a:p>
        </p:txBody>
      </p:sp>
      <p:sp>
        <p:nvSpPr>
          <p:cNvPr id="1357285404" name="Shape 46"/>
          <p:cNvSpPr/>
          <p:nvPr/>
        </p:nvSpPr>
        <p:spPr bwMode="auto">
          <a:xfrm>
            <a:off x="4754880" y="3182112"/>
            <a:ext cx="4114800" cy="365760"/>
          </a:xfrm>
          <a:prstGeom prst="rect">
            <a:avLst/>
          </a:prstGeom>
          <a:solidFill>
            <a:srgbClr val="0A1E2E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040921185" name="Text 47"/>
          <p:cNvSpPr/>
          <p:nvPr/>
        </p:nvSpPr>
        <p:spPr bwMode="auto">
          <a:xfrm>
            <a:off x="4846320" y="32186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✅  .copy()</a:t>
            </a:r>
            <a:endParaRPr lang="en-US" sz="1200"/>
          </a:p>
        </p:txBody>
      </p:sp>
      <p:sp>
        <p:nvSpPr>
          <p:cNvPr id="906122697" name="Text 48"/>
          <p:cNvSpPr/>
          <p:nvPr/>
        </p:nvSpPr>
        <p:spPr bwMode="auto">
          <a:xfrm>
            <a:off x="7086600" y="325526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Yangi set nusxasi qaytaradi</a:t>
            </a:r>
            <a:endParaRPr lang="en-US" sz="1000"/>
          </a:p>
        </p:txBody>
      </p:sp>
      <p:sp>
        <p:nvSpPr>
          <p:cNvPr id="147494905" name="Shape 49"/>
          <p:cNvSpPr/>
          <p:nvPr/>
        </p:nvSpPr>
        <p:spPr bwMode="auto">
          <a:xfrm>
            <a:off x="4754880" y="3584448"/>
            <a:ext cx="4114800" cy="365760"/>
          </a:xfrm>
          <a:prstGeom prst="rect">
            <a:avLst/>
          </a:prstGeom>
          <a:solidFill>
            <a:srgbClr val="0A1E2E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827975454" name="Text 50"/>
          <p:cNvSpPr/>
          <p:nvPr/>
        </p:nvSpPr>
        <p:spPr bwMode="auto">
          <a:xfrm>
            <a:off x="4846320" y="36210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✅  .union(s)</a:t>
            </a:r>
            <a:endParaRPr lang="en-US" sz="1200"/>
          </a:p>
        </p:txBody>
      </p:sp>
      <p:sp>
        <p:nvSpPr>
          <p:cNvPr id="796741604" name="Text 51"/>
          <p:cNvSpPr/>
          <p:nvPr/>
        </p:nvSpPr>
        <p:spPr bwMode="auto">
          <a:xfrm>
            <a:off x="7086600" y="36576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Yangi set qaytaradi (A∪B)</a:t>
            </a:r>
            <a:endParaRPr lang="en-US" sz="1000"/>
          </a:p>
        </p:txBody>
      </p:sp>
      <p:sp>
        <p:nvSpPr>
          <p:cNvPr id="166993740" name="Shape 52"/>
          <p:cNvSpPr/>
          <p:nvPr/>
        </p:nvSpPr>
        <p:spPr bwMode="auto">
          <a:xfrm>
            <a:off x="4754880" y="3986784"/>
            <a:ext cx="4114800" cy="365760"/>
          </a:xfrm>
          <a:prstGeom prst="rect">
            <a:avLst/>
          </a:prstGeom>
          <a:solidFill>
            <a:srgbClr val="0A1E2E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931679353" name="Text 53"/>
          <p:cNvSpPr/>
          <p:nvPr/>
        </p:nvSpPr>
        <p:spPr bwMode="auto">
          <a:xfrm>
            <a:off x="4846320" y="4023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✅  .intersection()</a:t>
            </a:r>
            <a:endParaRPr lang="en-US" sz="1200"/>
          </a:p>
        </p:txBody>
      </p:sp>
      <p:sp>
        <p:nvSpPr>
          <p:cNvPr id="957568973" name="Text 54"/>
          <p:cNvSpPr/>
          <p:nvPr/>
        </p:nvSpPr>
        <p:spPr bwMode="auto">
          <a:xfrm>
            <a:off x="7086600" y="405993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Yangi set qaytaradi (A∩B)</a:t>
            </a:r>
            <a:endParaRPr lang="en-US" sz="1000"/>
          </a:p>
        </p:txBody>
      </p:sp>
      <p:sp>
        <p:nvSpPr>
          <p:cNvPr id="959468111" name="Shape 55"/>
          <p:cNvSpPr/>
          <p:nvPr/>
        </p:nvSpPr>
        <p:spPr bwMode="auto">
          <a:xfrm>
            <a:off x="4754880" y="4389120"/>
            <a:ext cx="4114800" cy="365760"/>
          </a:xfrm>
          <a:prstGeom prst="rect">
            <a:avLst/>
          </a:prstGeom>
          <a:solidFill>
            <a:srgbClr val="0A1E2E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91707611" name="Text 56"/>
          <p:cNvSpPr/>
          <p:nvPr/>
        </p:nvSpPr>
        <p:spPr bwMode="auto">
          <a:xfrm>
            <a:off x="4846320" y="44256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✅  .difference()</a:t>
            </a:r>
            <a:endParaRPr lang="en-US" sz="1200"/>
          </a:p>
        </p:txBody>
      </p:sp>
      <p:sp>
        <p:nvSpPr>
          <p:cNvPr id="302040790" name="Text 57"/>
          <p:cNvSpPr/>
          <p:nvPr/>
        </p:nvSpPr>
        <p:spPr bwMode="auto">
          <a:xfrm>
            <a:off x="7086600" y="446227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Yangi set qaytaradi (A-B)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730266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84917062" name="Text 1"/>
          <p:cNvSpPr/>
          <p:nvPr/>
        </p:nvSpPr>
        <p:spPr bwMode="auto"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⚡  Methodlar Qanday Ishlaydi?</a:t>
            </a:r>
            <a:endParaRPr lang="en-US" sz="3200"/>
          </a:p>
        </p:txBody>
      </p:sp>
      <p:sp>
        <p:nvSpPr>
          <p:cNvPr id="1657374217" name="Shape 2"/>
          <p:cNvSpPr/>
          <p:nvPr/>
        </p:nvSpPr>
        <p:spPr bwMode="auto">
          <a:xfrm>
            <a:off x="274320" y="777240"/>
            <a:ext cx="4114800" cy="2103120"/>
          </a:xfrm>
          <a:prstGeom prst="rect">
            <a:avLst/>
          </a:prstGeom>
          <a:solidFill>
            <a:srgbClr val="0A2E1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51943640" name="Shape 3"/>
          <p:cNvSpPr/>
          <p:nvPr/>
        </p:nvSpPr>
        <p:spPr bwMode="auto">
          <a:xfrm>
            <a:off x="274320" y="777240"/>
            <a:ext cx="4114800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6156906" name="Text 4"/>
          <p:cNvSpPr/>
          <p:nvPr/>
        </p:nvSpPr>
        <p:spPr bwMode="auto">
          <a:xfrm>
            <a:off x="365760" y="79552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✅ Qiymat qaytaradi — sorted()</a:t>
            </a:r>
            <a:endParaRPr lang="en-US" sz="1300"/>
          </a:p>
        </p:txBody>
      </p:sp>
      <p:sp>
        <p:nvSpPr>
          <p:cNvPr id="1893096664" name="Text 5"/>
          <p:cNvSpPr/>
          <p:nvPr/>
        </p:nvSpPr>
        <p:spPr bwMode="auto">
          <a:xfrm>
            <a:off x="365760" y="1170432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numbers = [3, 1, 2]</a:t>
            </a:r>
            <a:b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</a:br>
            <a: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result  = </a:t>
            </a:r>
            <a:r>
              <a:rPr lang="en-US"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sorted</a:t>
            </a:r>
            <a: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(numbers)</a:t>
            </a:r>
            <a:b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</a:br>
            <a:b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</a:br>
            <a:r>
              <a:rPr lang="en-US" sz="12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numbers hali o'zgarmagan:</a:t>
            </a:r>
            <a:br>
              <a:rPr lang="en-US" sz="12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</a:br>
            <a:r>
              <a:rPr lang="en-US"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(numbers)  # [3, 1, 2]</a:t>
            </a:r>
            <a:b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</a:br>
            <a:r>
              <a:rPr lang="en-US"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lang="en-US" sz="12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(result)   # [1, 2, 3]  ✅</a:t>
            </a:r>
            <a:endParaRPr lang="en-US" sz="1200"/>
          </a:p>
        </p:txBody>
      </p:sp>
      <p:sp>
        <p:nvSpPr>
          <p:cNvPr id="1353019724" name="Shape 6"/>
          <p:cNvSpPr/>
          <p:nvPr/>
        </p:nvSpPr>
        <p:spPr bwMode="auto">
          <a:xfrm>
            <a:off x="4754880" y="777240"/>
            <a:ext cx="4114800" cy="2103120"/>
          </a:xfrm>
          <a:prstGeom prst="rect">
            <a:avLst/>
          </a:prstGeom>
          <a:solidFill>
            <a:srgbClr val="2E0F0F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1665354270" name="Shape 7"/>
          <p:cNvSpPr/>
          <p:nvPr/>
        </p:nvSpPr>
        <p:spPr bwMode="auto">
          <a:xfrm>
            <a:off x="4754880" y="777240"/>
            <a:ext cx="4114800" cy="347472"/>
          </a:xfrm>
          <a:prstGeom prst="rect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12648195" name="Text 8"/>
          <p:cNvSpPr/>
          <p:nvPr/>
        </p:nvSpPr>
        <p:spPr bwMode="auto">
          <a:xfrm>
            <a:off x="4846320" y="79552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❌ None qaytaradi — .sort()</a:t>
            </a:r>
            <a:endParaRPr lang="en-US" sz="1300"/>
          </a:p>
        </p:txBody>
      </p:sp>
      <p:sp>
        <p:nvSpPr>
          <p:cNvPr id="1985812617" name="Text 9"/>
          <p:cNvSpPr/>
          <p:nvPr/>
        </p:nvSpPr>
        <p:spPr bwMode="auto">
          <a:xfrm>
            <a:off x="4846320" y="1170432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numbers = [3, 1, 2]</a:t>
            </a:r>
            <a:b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</a:br>
            <a: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result  = numbers.</a:t>
            </a:r>
            <a:r>
              <a:rPr lang="en-US" sz="1200" b="1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sort</a:t>
            </a:r>
            <a: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()</a:t>
            </a:r>
            <a:b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</a:br>
            <a:br>
              <a:rPr lang="en-US" sz="1200">
                <a:solidFill>
                  <a:srgbClr val="CBD5E1"/>
                </a:solidFill>
                <a:latin typeface="Consolas"/>
                <a:ea typeface="Consolas"/>
                <a:cs typeface="Consolas"/>
              </a:rPr>
            </a:br>
            <a:r>
              <a:rPr lang="en-US" sz="12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Xato! result = None bo'ladi:</a:t>
            </a:r>
            <a:br>
              <a:rPr lang="en-US" sz="12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</a:br>
            <a:r>
              <a:rPr lang="en-US"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lang="en-US" sz="1200">
                <a:solidFill>
                  <a:srgbClr val="F43F5E"/>
                </a:solidFill>
                <a:latin typeface="Consolas"/>
                <a:ea typeface="Consolas"/>
                <a:cs typeface="Consolas"/>
              </a:rPr>
              <a:t>(result)   # None  ❌</a:t>
            </a:r>
            <a:br>
              <a:rPr lang="en-US" sz="1200">
                <a:solidFill>
                  <a:srgbClr val="F43F5E"/>
                </a:solidFill>
                <a:latin typeface="Consolas"/>
                <a:ea typeface="Consolas"/>
                <a:cs typeface="Consolas"/>
              </a:rPr>
            </a:br>
            <a:r>
              <a:rPr lang="en-US"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lang="en-US" sz="12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(numbers)  # [1, 2, 3]  ✅</a:t>
            </a:r>
            <a:endParaRPr lang="en-US" sz="1200"/>
          </a:p>
        </p:txBody>
      </p:sp>
      <p:sp>
        <p:nvSpPr>
          <p:cNvPr id="493387967" name="Shape 10"/>
          <p:cNvSpPr/>
          <p:nvPr/>
        </p:nvSpPr>
        <p:spPr bwMode="auto">
          <a:xfrm>
            <a:off x="274320" y="2971800"/>
            <a:ext cx="859536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75481696" name="Text 11"/>
          <p:cNvSpPr/>
          <p:nvPr/>
        </p:nvSpPr>
        <p:spPr bwMode="auto">
          <a:xfrm>
            <a:off x="457200" y="3063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💡  Oltin qoida:</a:t>
            </a:r>
            <a:endParaRPr lang="en-US" sz="1600"/>
          </a:p>
        </p:txBody>
      </p:sp>
      <p:sp>
        <p:nvSpPr>
          <p:cNvPr id="403955418" name="Shape 12"/>
          <p:cNvSpPr/>
          <p:nvPr/>
        </p:nvSpPr>
        <p:spPr bwMode="auto">
          <a:xfrm>
            <a:off x="274320" y="3456432"/>
            <a:ext cx="8595360" cy="438912"/>
          </a:xfrm>
          <a:prstGeom prst="rect">
            <a:avLst/>
          </a:prstGeom>
          <a:solidFill>
            <a:srgbClr val="12203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9309963" name="Shape 13"/>
          <p:cNvSpPr/>
          <p:nvPr/>
        </p:nvSpPr>
        <p:spPr bwMode="auto">
          <a:xfrm>
            <a:off x="274320" y="3456432"/>
            <a:ext cx="10972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35153415" name="Text 14"/>
          <p:cNvSpPr/>
          <p:nvPr/>
        </p:nvSpPr>
        <p:spPr bwMode="auto">
          <a:xfrm>
            <a:off x="502920" y="35112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Yangi qiymat yaratsa → qiymat qaytaradi  (str, sorted(), .copy(), .get()...)</a:t>
            </a:r>
            <a:endParaRPr lang="en-US" sz="1300"/>
          </a:p>
        </p:txBody>
      </p:sp>
      <p:sp>
        <p:nvSpPr>
          <p:cNvPr id="846907817" name="Shape 15"/>
          <p:cNvSpPr/>
          <p:nvPr/>
        </p:nvSpPr>
        <p:spPr bwMode="auto">
          <a:xfrm>
            <a:off x="274320" y="3959352"/>
            <a:ext cx="8595360" cy="438912"/>
          </a:xfrm>
          <a:prstGeom prst="rect">
            <a:avLst/>
          </a:prstGeom>
          <a:solidFill>
            <a:srgbClr val="122030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508025665" name="Shape 16"/>
          <p:cNvSpPr/>
          <p:nvPr/>
        </p:nvSpPr>
        <p:spPr bwMode="auto">
          <a:xfrm>
            <a:off x="274320" y="3959352"/>
            <a:ext cx="109728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5581321" name="Text 17"/>
          <p:cNvSpPr/>
          <p:nvPr/>
        </p:nvSpPr>
        <p:spPr bwMode="auto">
          <a:xfrm>
            <a:off x="502920" y="401421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Ob'ektni o'zi o'zgartirsa → None qaytaradi  (.sort(), .append(), .update()...)</a:t>
            </a:r>
            <a:endParaRPr lang="en-US" sz="1300"/>
          </a:p>
        </p:txBody>
      </p:sp>
      <p:sp>
        <p:nvSpPr>
          <p:cNvPr id="1724057584" name="Shape 18"/>
          <p:cNvSpPr/>
          <p:nvPr/>
        </p:nvSpPr>
        <p:spPr bwMode="auto">
          <a:xfrm>
            <a:off x="274320" y="4462272"/>
            <a:ext cx="8595360" cy="438912"/>
          </a:xfrm>
          <a:prstGeom prst="rect">
            <a:avLst/>
          </a:prstGeom>
          <a:solidFill>
            <a:srgbClr val="122030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222147341" name="Shape 19"/>
          <p:cNvSpPr/>
          <p:nvPr/>
        </p:nvSpPr>
        <p:spPr bwMode="auto">
          <a:xfrm>
            <a:off x="274320" y="4462272"/>
            <a:ext cx="109728" cy="43891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25413355" name="Text 20"/>
          <p:cNvSpPr/>
          <p:nvPr/>
        </p:nvSpPr>
        <p:spPr bwMode="auto">
          <a:xfrm>
            <a:off x="502920" y="451713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Natijani o'zgaruvchiga saqlash kerak bo'lsa → qaytaradiganini ishlating!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247503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31354582" name="Text 1"/>
          <p:cNvSpPr/>
          <p:nvPr/>
        </p:nvSpPr>
        <p:spPr bwMode="auto"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📊  Xulosa — Cheat Sheet</a:t>
            </a:r>
            <a:endParaRPr lang="en-US" sz="3200"/>
          </a:p>
        </p:txBody>
      </p:sp>
      <p:sp>
        <p:nvSpPr>
          <p:cNvPr id="1406137038" name="Shape 2"/>
          <p:cNvSpPr/>
          <p:nvPr/>
        </p:nvSpPr>
        <p:spPr bwMode="auto">
          <a:xfrm>
            <a:off x="274320" y="777240"/>
            <a:ext cx="256032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873551070" name="Text 3"/>
          <p:cNvSpPr/>
          <p:nvPr/>
        </p:nvSpPr>
        <p:spPr bwMode="auto">
          <a:xfrm>
            <a:off x="365760" y="7955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Data Type</a:t>
            </a:r>
            <a:endParaRPr lang="en-US" sz="1300"/>
          </a:p>
        </p:txBody>
      </p:sp>
      <p:sp>
        <p:nvSpPr>
          <p:cNvPr id="423134218" name="Shape 4"/>
          <p:cNvSpPr/>
          <p:nvPr/>
        </p:nvSpPr>
        <p:spPr bwMode="auto">
          <a:xfrm>
            <a:off x="2926080" y="777240"/>
            <a:ext cx="3017519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51457085" name="Text 5"/>
          <p:cNvSpPr/>
          <p:nvPr/>
        </p:nvSpPr>
        <p:spPr bwMode="auto">
          <a:xfrm>
            <a:off x="3017519" y="7955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Qaytaradigan ✅</a:t>
            </a:r>
            <a:endParaRPr lang="en-US" sz="1300"/>
          </a:p>
        </p:txBody>
      </p:sp>
      <p:sp>
        <p:nvSpPr>
          <p:cNvPr id="836746969" name="Shape 6"/>
          <p:cNvSpPr/>
          <p:nvPr/>
        </p:nvSpPr>
        <p:spPr bwMode="auto">
          <a:xfrm>
            <a:off x="6035039" y="777240"/>
            <a:ext cx="292608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31234872" name="Text 7"/>
          <p:cNvSpPr/>
          <p:nvPr/>
        </p:nvSpPr>
        <p:spPr bwMode="auto">
          <a:xfrm>
            <a:off x="6126480" y="7955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Qaytarmaydigan ❌</a:t>
            </a:r>
            <a:endParaRPr lang="en-US" sz="1300"/>
          </a:p>
        </p:txBody>
      </p:sp>
      <p:sp>
        <p:nvSpPr>
          <p:cNvPr id="1491076418" name="Shape 8"/>
          <p:cNvSpPr/>
          <p:nvPr/>
        </p:nvSpPr>
        <p:spPr bwMode="auto">
          <a:xfrm>
            <a:off x="274320" y="1197864"/>
            <a:ext cx="2560320" cy="868680"/>
          </a:xfrm>
          <a:prstGeom prst="rect">
            <a:avLst/>
          </a:prstGeom>
          <a:solidFill>
            <a:srgbClr val="091929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549012487" name="Text 9"/>
          <p:cNvSpPr/>
          <p:nvPr/>
        </p:nvSpPr>
        <p:spPr bwMode="auto">
          <a:xfrm>
            <a:off x="365760" y="127101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String (str)</a:t>
            </a:r>
            <a:endParaRPr lang="en-US" sz="1400"/>
          </a:p>
        </p:txBody>
      </p:sp>
      <p:sp>
        <p:nvSpPr>
          <p:cNvPr id="1422315035" name="Shape 10"/>
          <p:cNvSpPr/>
          <p:nvPr/>
        </p:nvSpPr>
        <p:spPr bwMode="auto">
          <a:xfrm>
            <a:off x="2926080" y="1197864"/>
            <a:ext cx="3017519" cy="868680"/>
          </a:xfrm>
          <a:prstGeom prst="rect">
            <a:avLst/>
          </a:prstGeom>
          <a:solidFill>
            <a:srgbClr val="0A2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49963728" name="Text 11"/>
          <p:cNvSpPr/>
          <p:nvPr/>
        </p:nvSpPr>
        <p:spPr bwMode="auto">
          <a:xfrm>
            <a:off x="3017519" y="1234440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.upper() .lower() .strip()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.split() .replace() .find()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.count() .join() .format()</a:t>
            </a:r>
            <a:endParaRPr lang="en-US" sz="1100"/>
          </a:p>
        </p:txBody>
      </p:sp>
      <p:sp>
        <p:nvSpPr>
          <p:cNvPr id="1883058385" name="Shape 12"/>
          <p:cNvSpPr/>
          <p:nvPr/>
        </p:nvSpPr>
        <p:spPr bwMode="auto">
          <a:xfrm>
            <a:off x="6035039" y="1197864"/>
            <a:ext cx="2926080" cy="868680"/>
          </a:xfrm>
          <a:prstGeom prst="rect">
            <a:avLst/>
          </a:prstGeom>
          <a:solidFill>
            <a:srgbClr val="2E0F0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98766049" name="Text 13"/>
          <p:cNvSpPr/>
          <p:nvPr/>
        </p:nvSpPr>
        <p:spPr bwMode="auto">
          <a:xfrm>
            <a:off x="6126480" y="1234440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(Hammasi yangi string qaytaradi,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hech biri None qaytarmaydi!)</a:t>
            </a:r>
            <a:endParaRPr lang="en-US" sz="1100"/>
          </a:p>
        </p:txBody>
      </p:sp>
      <p:sp>
        <p:nvSpPr>
          <p:cNvPr id="1434764758" name="Shape 14"/>
          <p:cNvSpPr/>
          <p:nvPr/>
        </p:nvSpPr>
        <p:spPr bwMode="auto">
          <a:xfrm>
            <a:off x="274320" y="2130552"/>
            <a:ext cx="2560320" cy="868680"/>
          </a:xfrm>
          <a:prstGeom prst="rect">
            <a:avLst/>
          </a:prstGeom>
          <a:solidFill>
            <a:srgbClr val="0D213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90167672" name="Text 15"/>
          <p:cNvSpPr/>
          <p:nvPr/>
        </p:nvSpPr>
        <p:spPr bwMode="auto">
          <a:xfrm>
            <a:off x="365760" y="2203704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List</a:t>
            </a:r>
            <a:endParaRPr lang="en-US" sz="1400"/>
          </a:p>
        </p:txBody>
      </p:sp>
      <p:sp>
        <p:nvSpPr>
          <p:cNvPr id="1958870003" name="Shape 16"/>
          <p:cNvSpPr/>
          <p:nvPr/>
        </p:nvSpPr>
        <p:spPr bwMode="auto">
          <a:xfrm>
            <a:off x="2926080" y="2130552"/>
            <a:ext cx="3017519" cy="868680"/>
          </a:xfrm>
          <a:prstGeom prst="rect">
            <a:avLst/>
          </a:prstGeom>
          <a:solidFill>
            <a:srgbClr val="0A2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3366792" name="Text 17"/>
          <p:cNvSpPr/>
          <p:nvPr/>
        </p:nvSpPr>
        <p:spPr bwMode="auto">
          <a:xfrm>
            <a:off x="3017519" y="2167128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.copy() .count() .index()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.pop()</a:t>
            </a:r>
            <a:endParaRPr lang="en-US" sz="1100"/>
          </a:p>
        </p:txBody>
      </p:sp>
      <p:sp>
        <p:nvSpPr>
          <p:cNvPr id="667908413" name="Shape 18"/>
          <p:cNvSpPr/>
          <p:nvPr/>
        </p:nvSpPr>
        <p:spPr bwMode="auto">
          <a:xfrm>
            <a:off x="6035039" y="2130552"/>
            <a:ext cx="2926080" cy="868680"/>
          </a:xfrm>
          <a:prstGeom prst="rect">
            <a:avLst/>
          </a:prstGeom>
          <a:solidFill>
            <a:srgbClr val="2E0F0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47452541" name="Text 19"/>
          <p:cNvSpPr/>
          <p:nvPr/>
        </p:nvSpPr>
        <p:spPr bwMode="auto">
          <a:xfrm>
            <a:off x="6126480" y="2167128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.append() .extend() .insert()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.remove() .sort() .reverse() .clear()</a:t>
            </a:r>
            <a:endParaRPr lang="en-US" sz="1100"/>
          </a:p>
        </p:txBody>
      </p:sp>
      <p:sp>
        <p:nvSpPr>
          <p:cNvPr id="313657928" name="Shape 20"/>
          <p:cNvSpPr/>
          <p:nvPr/>
        </p:nvSpPr>
        <p:spPr bwMode="auto">
          <a:xfrm>
            <a:off x="274320" y="3063240"/>
            <a:ext cx="2560320" cy="868680"/>
          </a:xfrm>
          <a:prstGeom prst="rect">
            <a:avLst/>
          </a:prstGeom>
          <a:solidFill>
            <a:srgbClr val="091929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099807722" name="Text 21"/>
          <p:cNvSpPr/>
          <p:nvPr/>
        </p:nvSpPr>
        <p:spPr bwMode="auto">
          <a:xfrm>
            <a:off x="365760" y="313639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B923C"/>
                </a:solidFill>
                <a:latin typeface="Calibri"/>
                <a:ea typeface="Calibri"/>
                <a:cs typeface="Calibri"/>
              </a:rPr>
              <a:t>Dictionary</a:t>
            </a:r>
            <a:endParaRPr lang="en-US" sz="1400"/>
          </a:p>
        </p:txBody>
      </p:sp>
      <p:sp>
        <p:nvSpPr>
          <p:cNvPr id="1321755997" name="Shape 22"/>
          <p:cNvSpPr/>
          <p:nvPr/>
        </p:nvSpPr>
        <p:spPr bwMode="auto">
          <a:xfrm>
            <a:off x="2926080" y="3063240"/>
            <a:ext cx="3017519" cy="868680"/>
          </a:xfrm>
          <a:prstGeom prst="rect">
            <a:avLst/>
          </a:prstGeom>
          <a:solidFill>
            <a:srgbClr val="0A2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11835953" name="Text 23"/>
          <p:cNvSpPr/>
          <p:nvPr/>
        </p:nvSpPr>
        <p:spPr bwMode="auto">
          <a:xfrm>
            <a:off x="3017519" y="3099816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.keys() .values() .items()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.get() .copy() .pop()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.setdefault()</a:t>
            </a:r>
            <a:endParaRPr lang="en-US" sz="1100"/>
          </a:p>
        </p:txBody>
      </p:sp>
      <p:sp>
        <p:nvSpPr>
          <p:cNvPr id="1607090403" name="Shape 24"/>
          <p:cNvSpPr/>
          <p:nvPr/>
        </p:nvSpPr>
        <p:spPr bwMode="auto">
          <a:xfrm>
            <a:off x="6035039" y="3063240"/>
            <a:ext cx="2926080" cy="868680"/>
          </a:xfrm>
          <a:prstGeom prst="rect">
            <a:avLst/>
          </a:prstGeom>
          <a:solidFill>
            <a:srgbClr val="2E0F0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0326499" name="Text 25"/>
          <p:cNvSpPr/>
          <p:nvPr/>
        </p:nvSpPr>
        <p:spPr bwMode="auto">
          <a:xfrm>
            <a:off x="6126480" y="3099816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.update() .clear()</a:t>
            </a:r>
            <a:endParaRPr lang="en-US" sz="1100"/>
          </a:p>
        </p:txBody>
      </p:sp>
      <p:sp>
        <p:nvSpPr>
          <p:cNvPr id="238791835" name="Shape 26"/>
          <p:cNvSpPr/>
          <p:nvPr/>
        </p:nvSpPr>
        <p:spPr bwMode="auto">
          <a:xfrm>
            <a:off x="274320" y="3995928"/>
            <a:ext cx="2560320" cy="868680"/>
          </a:xfrm>
          <a:prstGeom prst="rect">
            <a:avLst/>
          </a:prstGeom>
          <a:solidFill>
            <a:srgbClr val="0D213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32271408" name="Text 27"/>
          <p:cNvSpPr/>
          <p:nvPr/>
        </p:nvSpPr>
        <p:spPr bwMode="auto">
          <a:xfrm>
            <a:off x="365760" y="4069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Set</a:t>
            </a:r>
            <a:endParaRPr lang="en-US" sz="1400"/>
          </a:p>
        </p:txBody>
      </p:sp>
      <p:sp>
        <p:nvSpPr>
          <p:cNvPr id="813207560" name="Shape 28"/>
          <p:cNvSpPr/>
          <p:nvPr/>
        </p:nvSpPr>
        <p:spPr bwMode="auto">
          <a:xfrm>
            <a:off x="2926080" y="3995928"/>
            <a:ext cx="3017519" cy="868680"/>
          </a:xfrm>
          <a:prstGeom prst="rect">
            <a:avLst/>
          </a:prstGeom>
          <a:solidFill>
            <a:srgbClr val="0A2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0380257" name="Text 29"/>
          <p:cNvSpPr/>
          <p:nvPr/>
        </p:nvSpPr>
        <p:spPr bwMode="auto">
          <a:xfrm>
            <a:off x="3017519" y="4032504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.pop() .copy() .union()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.intersection() .difference()</a:t>
            </a:r>
            <a:endParaRPr lang="en-US" sz="1100"/>
          </a:p>
        </p:txBody>
      </p:sp>
      <p:sp>
        <p:nvSpPr>
          <p:cNvPr id="1695551694" name="Shape 30"/>
          <p:cNvSpPr/>
          <p:nvPr/>
        </p:nvSpPr>
        <p:spPr bwMode="auto">
          <a:xfrm>
            <a:off x="6035039" y="3995928"/>
            <a:ext cx="2926080" cy="868680"/>
          </a:xfrm>
          <a:prstGeom prst="rect">
            <a:avLst/>
          </a:prstGeom>
          <a:solidFill>
            <a:srgbClr val="2E0F0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18375255" name="Text 31"/>
          <p:cNvSpPr/>
          <p:nvPr/>
        </p:nvSpPr>
        <p:spPr bwMode="auto">
          <a:xfrm>
            <a:off x="6126480" y="4032504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.add() .remove() .discard()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.clear()</a:t>
            </a:r>
            <a:endParaRPr lang="en-US" sz="1100"/>
          </a:p>
        </p:txBody>
      </p:sp>
      <p:sp>
        <p:nvSpPr>
          <p:cNvPr id="1914172302" name="Shape 32"/>
          <p:cNvSpPr/>
          <p:nvPr/>
        </p:nvSpPr>
        <p:spPr bwMode="auto">
          <a:xfrm>
            <a:off x="0" y="4864607"/>
            <a:ext cx="91440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9419048" name="Text 33"/>
          <p:cNvSpPr/>
          <p:nvPr/>
        </p:nvSpPr>
        <p:spPr bwMode="auto"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Python Data Type Methods  |  ✅ = return qiymat  |  ❌ = None qaytaradi (in-place o'zgartirish)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Data Type Methods</dc:title>
  <dc:subject>PptxGenJS Presentation</dc:subject>
  <dc:creator>PptxGenJS</dc:creator>
  <cp:lastModifiedBy/>
  <cp:revision>2</cp:revision>
  <dcterms:created xsi:type="dcterms:W3CDTF">2026-04-18T16:47:13Z</dcterms:created>
  <dcterms:modified xsi:type="dcterms:W3CDTF">2026-04-25T17:09:59Z</dcterms:modified>
</cp:coreProperties>
</file>